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notesMasterIdLst>
    <p:notesMasterId r:id="rId5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Tujuan pembelajaran:
- XI.BK.1 Menjelaskan alur pengembangan produk teknologi digital.
- XI.BK.2 Menganalisis persoalan bersolusi jamak dan merumuskan alternatifnya.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Murid mencoba simulasi di aplikasi; guru berkeliling memberi umpan balik.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Tujuan pembelajaran:
- XI.BK.3 Membandingkan strategi algoritmik dengan justifikasi efisiensi.
- XI.BK.5 Memilih dan menerapkan solusi terbaik.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Murid mencoba simulasi di aplikasi; guru berkeliling memberi umpan balik.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Murid mencoba simulasi di aplikasi; guru berkeliling memberi umpan balik.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Tujuan pembelajaran:
- XI.BK.4 Merancang struktur data kompleks dan abstrak.
- XI.BK.5 Menerapkan solusi terbaik menggunakan struktur data yang dirancang.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Murid mencoba simulasi di aplikasi; guru berkeliling memberi umpan balik.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Tujuan pembelajaran:
- XI.BK.6 Mengenali model dan topologi jaringan serta lapisan TCP/IP.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Murid mencoba simulasi di aplikasi; guru berkeliling memberi umpan balik.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Tujuan pembelajaran:
- XI.BK.7 Melakukan pengiriman data antarperangkat.
- XI.BK.8 Melakukan troubleshooting jaringan.
- XI.LD.3 Menerapkan konfigurasi keamanan lanjut.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Murid mencoba simulasi di aplikasi; guru berkeliling memberi umpan balik.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Murid mencoba simulasi di aplikasi; guru berkeliling memberi umpan balik.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Tujuan pembelajaran:
- XI.LD.1 Riset dengan mesin pencari.
- XI.LD.2 Verifikasi konten dan membaca lateral.
- XI.AD.1 Memanfaatkan sumber data terbuka dan legal.
- XI.AD.2 Mengolah data untuk keputusan dan prediksi.
- XI.AD.3 Menyajikan dan mengomunikasikan hasil analisis.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Murid mencoba simulasi di aplikasi; guru berkeliling memberi umpan balik.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Murid mencoba simulasi di aplikasi; guru berkeliling memberi umpan balik.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4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206240" cy="4206240"/>
          </a:xfrm>
          <a:prstGeom prst="ellipse">
            <a:avLst/>
          </a:prstGeom>
          <a:solidFill>
            <a:srgbClr val="00A186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188720" y="3291840"/>
            <a:ext cx="2926080" cy="2926080"/>
          </a:xfrm>
          <a:prstGeom prst="ellipse">
            <a:avLst/>
          </a:prstGeom>
          <a:solidFill>
            <a:srgbClr val="7CF0D2">
              <a:alpha val="2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676656"/>
            <a:ext cx="475488" cy="64008"/>
          </a:xfrm>
          <a:prstGeom prst="rect">
            <a:avLst/>
          </a:prstGeom>
          <a:solidFill>
            <a:srgbClr val="7CF0D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53035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CF0D2"/>
                </a:solidFill>
              </a:rPr>
              <a:t>INFORMATIKA · FASE F · T.P. 2026/2027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0584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Slide Pembelajaran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Kelas XI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9748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7E6FB"/>
                </a:solidFill>
              </a:rPr>
              <a:t>6 pertemuan · 72 JP · dilengkapi simulasi interaktif pada setiap pertemuan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886200"/>
            <a:ext cx="1888236" cy="384048"/>
          </a:xfrm>
          <a:prstGeom prst="roundRect">
            <a:avLst>
              <a:gd name="adj" fmla="val 47619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7CF0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3886200"/>
            <a:ext cx="18882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SMA Negeri 11 Pinrang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83180" y="3886200"/>
            <a:ext cx="1577340" cy="384048"/>
          </a:xfrm>
          <a:prstGeom prst="roundRect">
            <a:avLst>
              <a:gd name="adj" fmla="val 47619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7CF0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83180" y="3886200"/>
            <a:ext cx="1577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Kurikulum Merdeka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88536" y="3886200"/>
            <a:ext cx="800100" cy="384048"/>
          </a:xfrm>
          <a:prstGeom prst="roundRect">
            <a:avLst>
              <a:gd name="adj" fmla="val 47619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7CF0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88536" y="3886200"/>
            <a:ext cx="8001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CP 2025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DBAE8"/>
                </a:solidFill>
              </a:rPr>
              <a:t>Mutmainnah Syam, S.Pd., M.Pd.  ·  SMA Negeri 11 Pinrang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4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206240" cy="4206240"/>
          </a:xfrm>
          <a:prstGeom prst="ellipse">
            <a:avLst/>
          </a:prstGeom>
          <a:solidFill>
            <a:srgbClr val="00A186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188720" y="3291840"/>
            <a:ext cx="2926080" cy="2926080"/>
          </a:xfrm>
          <a:prstGeom prst="ellipse">
            <a:avLst/>
          </a:prstGeom>
          <a:solidFill>
            <a:srgbClr val="7CF0D2">
              <a:alpha val="2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676656"/>
            <a:ext cx="475488" cy="64008"/>
          </a:xfrm>
          <a:prstGeom prst="rect">
            <a:avLst/>
          </a:prstGeom>
          <a:solidFill>
            <a:srgbClr val="7CF0D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53035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CF0D2"/>
                </a:solidFill>
              </a:rPr>
              <a:t>XI.1 · Ganjil · 10 JP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0584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Alur Pengembangan Produk Teknologi Digital dan Analisis Persoalan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9748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7E6FB"/>
                </a:solidFill>
              </a:rPr>
              <a:t>Dari kebutuhan pengguna sampai pemeliharaan produk, serta merumuskan alternatif solusi.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886200"/>
            <a:ext cx="1965960" cy="384048"/>
          </a:xfrm>
          <a:prstGeom prst="roundRect">
            <a:avLst>
              <a:gd name="adj" fmla="val 47619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7CF0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388620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Berpikir Komputasional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60904" y="3886200"/>
            <a:ext cx="644652" cy="384048"/>
          </a:xfrm>
          <a:prstGeom prst="roundRect">
            <a:avLst>
              <a:gd name="adj" fmla="val 47619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7CF0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60904" y="3886200"/>
            <a:ext cx="644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 JP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DBAE8"/>
                </a:solidFill>
              </a:rPr>
              <a:t>Mutmainnah Syam, S.Pd., M.Pd.  ·  SMA Negeri 11 Pinrang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Pemantik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Mengapa aplikasi terus diperbarui?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Produk digital tidak pernah benar-benar selesai; ia tumbuh mengikuti kebutuhan penggunanya.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Perbaikan yang terlambat jauh lebih mahal daripada perencanaan yang matang.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XI.1 · Alur Pengembangan Produk Teknologi Digital dan Analisis Persoalan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Daur hidup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Lima tahap pengembangan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Analisis kebutuhan — memahami persoalan dan pengguna sesungguhnya.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Perancangan — alur proses, struktur data, dan rancangan antarmuka.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Implementasi — membangun produk atau menulis kode.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Pengujian — memastikan produk benar dan nyaman dipakai.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Pemeliharaan — memperbaiki, memperbarui, dan mengembangkan.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XI.1 · Alur Pengembangan Produk Teknologi Digital dan Analisis Persoalan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6403A"/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-502920"/>
            <a:ext cx="2011680" cy="2011680"/>
          </a:xfrm>
          <a:prstGeom prst="ellipse">
            <a:avLst/>
          </a:prstGeom>
          <a:solidFill>
            <a:srgbClr val="7CF0D2">
              <a:alpha val="4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82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7CF0D2"/>
                </a:solidFill>
              </a:rPr>
              <a:t>SIMULASI INTERAKTIF  ·  MENGAPLIKASI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572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Daur Hidup Produk Digital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8010144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0E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600200"/>
            <a:ext cx="7406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A4060"/>
                </a:solidFill>
              </a:rPr>
              <a:t>Buka aplikasi media pembelajaran, masuk ke pertemuan XI.1, lalu pilih salindia bertanda 🧪 — atau buka menu Simulasi dan pilih "Daur Hidup Produk Digital".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i="1" dirty="0">
                <a:solidFill>
                  <a:srgbClr val="6A7090"/>
                </a:solidFill>
              </a:rPr>
              <a:t>Dikaitkan dengan materi: Lima tahap pengembangan</a:t>
            </a:r>
            <a:endParaRPr lang="en-US" sz="1300" dirty="0"/>
          </a:p>
          <a:p>
            <a:pPr indent="0" marL="0">
              <a:buNone/>
            </a:pPr>
            <a:r>
              <a:rPr lang="en-US" sz="1250" dirty="0">
                <a:solidFill>
                  <a:srgbClr val="3A4060"/>
                </a:solidFill>
              </a:rPr>
              <a:t>Langkah murid: amati → ubah nilainya → catat yang berubah → simpulkan bersama kelompok.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3840480"/>
            <a:ext cx="8010144" cy="658368"/>
          </a:xfrm>
          <a:prstGeom prst="roundRect">
            <a:avLst>
              <a:gd name="adj" fmla="val 16667"/>
            </a:avLst>
          </a:prstGeom>
          <a:solidFill>
            <a:srgbClr val="7CF0D2">
              <a:alpha val="2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84048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33"/>
                </a:solidFill>
              </a:rPr>
              <a:t>Pertanyaan pemandu: apa yang berubah ketika nilainya diubah, dan mengapa hal itu terjadi?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XI.1 · Alur Pengembangan Produk Teknologi Digital dan Analisis Persoalan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Analisis kebutuhan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Menggali kebutuhan pengguna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Wawancara, pengamatan, dan kuesioner singkat kepada calon pengguna.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Bedakan keinginan dan kebutuhan; tanyakan 'mengapa' hingga akar persoalan.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Tulis kebutuhan sebagai pernyataan terukur: 'petugas dapat mencatat presensi 36 murid kurang dari 2 menit'.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Hindari menebak kebutuhan dari balik meja.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XI.1 · Alur Pengembangan Produk Teknologi Digital dan Analisis Persoalan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Perancangan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Dari kebutuhan menjadi rancangan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Diagram alur proses menggambarkan jalannya sistem.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Rancangan antarmuka (wireframe) cukup digambar di kertas pada tahap awal.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Tentukan data apa yang disimpan dan bagaimana strukturnya.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Validasi rancangan kepada pengguna sebelum menulis kode.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XI.1 · Alur Pengembangan Produk Teknologi Digital dan Analisis Persoalan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Alternatif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Satu persoalan, banyak solusi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Contoh: mempercepat presensi — kartu QR, pemindai kartu pelajar, atau formulir daring.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Setiap alternatif memiliki biaya, kemudahan, dan risiko berbeda.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Bandingkan dengan kriteria: biaya, waktu pengembangan, kemudahan pemakaian, dan keandalan.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Pilih yang paling sesuai konteks sekolah, bukan yang paling canggih.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XI.1 · Alur Pengembangan Produk Teknologi Digital dan Analisis Persoalan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Refleksi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Tahap paling rawan gagal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Mana yang lebih sering gagal: menulis kode atau memahami kebutuhan?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Apa buktinya bahwa rancangan kita benar-benar menjawab kebutuhan pengguna?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XI.1 · Alur Pengembangan Produk Teknologi Digital dan Analisis Persoalan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Refleksi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Mari kita refleksikan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Apa hal baru yang saya pahami pada pertemuan ini?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Bagian mana yang masih membingungkan bagi saya?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Apa yang akan saya lakukan untuk memperbaikinya?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Di mana konsep ini dapat saya pakai di kehidupan sehari-hari?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XI.1 · Alur Pengembangan Produk Teknologi Digital dan Analisis Persoalan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4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206240" cy="4206240"/>
          </a:xfrm>
          <a:prstGeom prst="ellipse">
            <a:avLst/>
          </a:prstGeom>
          <a:solidFill>
            <a:srgbClr val="00A186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188720" y="3291840"/>
            <a:ext cx="2926080" cy="2926080"/>
          </a:xfrm>
          <a:prstGeom prst="ellipse">
            <a:avLst/>
          </a:prstGeom>
          <a:solidFill>
            <a:srgbClr val="7CF0D2">
              <a:alpha val="2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676656"/>
            <a:ext cx="475488" cy="64008"/>
          </a:xfrm>
          <a:prstGeom prst="rect">
            <a:avLst/>
          </a:prstGeom>
          <a:solidFill>
            <a:srgbClr val="7CF0D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53035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CF0D2"/>
                </a:solidFill>
              </a:rPr>
              <a:t>XI.2 · Ganjil · 10 JP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0584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Strategi Algoritmik dan Justifikasi Efisiensi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9748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7E6FB"/>
                </a:solidFill>
              </a:rPr>
              <a:t>Brute force, greedy, divide and conquer, serta cara menilai dan memilih solusi terbaik.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886200"/>
            <a:ext cx="1965960" cy="384048"/>
          </a:xfrm>
          <a:prstGeom prst="roundRect">
            <a:avLst>
              <a:gd name="adj" fmla="val 47619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7CF0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388620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Berpikir Komputasional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60904" y="3886200"/>
            <a:ext cx="644652" cy="384048"/>
          </a:xfrm>
          <a:prstGeom prst="roundRect">
            <a:avLst>
              <a:gd name="adj" fmla="val 47619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7CF0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60904" y="3886200"/>
            <a:ext cx="644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 JP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DBAE8"/>
                </a:solidFill>
              </a:rPr>
              <a:t>Mutmainnah Syam, S.Pd., M.Pd.  ·  SMA Negeri 11 Pinrang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Pemantik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Jawaban sama, kecepatan jauh berbeda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Dua program memberi hasil yang sama, tetapi satu selesai 1 detik dan satunya 20 menit.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Perbedaan itu lahir dari strategi algoritmik yang dipilih.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XI.2 · Strategi Algoritmik dan Justifikasi Efisiensi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Strategi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Brute force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Mencoba seluruh kemungkinan lalu memilih yang memenuhi syarat.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Kelebihan: pasti menemukan solusi dan mudah ditulis.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Keterbatasan: jumlah langkah meledak saat data membesar.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Cocok untuk data kecil atau sebagai pembanding kebenaran.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XI.2 · Strategi Algoritmik dan Justifikasi Efisiensi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Strategi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Greedy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Mengambil pilihan terbaik pada setiap langkah tanpa meninjau ulang.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Contoh: penukaran uang dengan pecahan terbesar lebih dahulu.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Cepat, tetapi tidak selalu menghasilkan solusi paling optimal.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Perlu bukti atau pengujian bahwa pilihan serakah memang tepat untuk persoalan itu.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XI.2 · Strategi Algoritmik dan Justifikasi Efisiensi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5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6403A"/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-502920"/>
            <a:ext cx="2011680" cy="2011680"/>
          </a:xfrm>
          <a:prstGeom prst="ellipse">
            <a:avLst/>
          </a:prstGeom>
          <a:solidFill>
            <a:srgbClr val="7CF0D2">
              <a:alpha val="4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82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7CF0D2"/>
                </a:solidFill>
              </a:rPr>
              <a:t>SIMULASI INTERAKTIF  ·  MENGAPLIKASI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572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Brute Force vs Greedy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8010144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0E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600200"/>
            <a:ext cx="7406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A4060"/>
                </a:solidFill>
              </a:rPr>
              <a:t>Buka aplikasi media pembelajaran, masuk ke pertemuan XI.2, lalu pilih salindia bertanda 🧪 — atau buka menu Simulasi dan pilih "Brute Force vs Greedy".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i="1" dirty="0">
                <a:solidFill>
                  <a:srgbClr val="6A7090"/>
                </a:solidFill>
              </a:rPr>
              <a:t>Dikaitkan dengan materi: Greedy</a:t>
            </a:r>
            <a:endParaRPr lang="en-US" sz="1300" dirty="0"/>
          </a:p>
          <a:p>
            <a:pPr indent="0" marL="0">
              <a:buNone/>
            </a:pPr>
            <a:r>
              <a:rPr lang="en-US" sz="1250" dirty="0">
                <a:solidFill>
                  <a:srgbClr val="3A4060"/>
                </a:solidFill>
              </a:rPr>
              <a:t>Langkah murid: amati → ubah nilainya → catat yang berubah → simpulkan bersama kelompok.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3840480"/>
            <a:ext cx="8010144" cy="658368"/>
          </a:xfrm>
          <a:prstGeom prst="roundRect">
            <a:avLst>
              <a:gd name="adj" fmla="val 16667"/>
            </a:avLst>
          </a:prstGeom>
          <a:solidFill>
            <a:srgbClr val="7CF0D2">
              <a:alpha val="2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84048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33"/>
                </a:solidFill>
              </a:rPr>
              <a:t>Pertanyaan pemandu: apa yang berubah ketika nilainya diubah, dan mengapa hal itu terjadi?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XI.2 · Strategi Algoritmik dan Justifikasi Efisiensi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Strategi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Divide and conquer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Membagi persoalan menjadi submasalah sejenis, menyelesaikannya, lalu menggabungkan hasilnya.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Contoh: binary search dan merge sort.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Sering menurunkan jumlah langkah dari n² menjadi n log 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Memerlukan persoalan yang dapat dipecah secara alami.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XI.2 · Strategi Algoritmik dan Justifikasi Efisiensi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Efisiensi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Menakar jumlah langkah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Perhatikan pertumbuhan langkah terhadap ukuran data n, bukan waktu pada satu komputer.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Urutan dari cepat ke lambat: O(1), O(log n), O(n), O(n log n), O(n²), O(2ⁿ).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Pada n = 1.000.000: n log n ≈ 20 juta langkah, sedangkan n² = 1.000.000.000.000 langkah.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Uji dengan data kecil, sedang, dan besar lalu bandingkan hasilnya.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XI.2 · Strategi Algoritmik dan Justifikasi Efisiensi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5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6403A"/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-502920"/>
            <a:ext cx="2011680" cy="2011680"/>
          </a:xfrm>
          <a:prstGeom prst="ellipse">
            <a:avLst/>
          </a:prstGeom>
          <a:solidFill>
            <a:srgbClr val="7CF0D2">
              <a:alpha val="4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82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7CF0D2"/>
                </a:solidFill>
              </a:rPr>
              <a:t>SIMULASI INTERAKTIF  ·  MENGAPLIKASI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572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Visualisasi Pengurutan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8010144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0E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600200"/>
            <a:ext cx="7406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A4060"/>
                </a:solidFill>
              </a:rPr>
              <a:t>Buka aplikasi media pembelajaran, masuk ke pertemuan XI.2, lalu pilih salindia bertanda 🧪 — atau buka menu Simulasi dan pilih "Visualisasi Pengurutan".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i="1" dirty="0">
                <a:solidFill>
                  <a:srgbClr val="6A7090"/>
                </a:solidFill>
              </a:rPr>
              <a:t>Dikaitkan dengan materi: Menakar jumlah langkah</a:t>
            </a:r>
            <a:endParaRPr lang="en-US" sz="1300" dirty="0"/>
          </a:p>
          <a:p>
            <a:pPr indent="0" marL="0">
              <a:buNone/>
            </a:pPr>
            <a:r>
              <a:rPr lang="en-US" sz="1250" dirty="0">
                <a:solidFill>
                  <a:srgbClr val="3A4060"/>
                </a:solidFill>
              </a:rPr>
              <a:t>Langkah murid: amati → ubah nilainya → catat yang berubah → simpulkan bersama kelompok.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3840480"/>
            <a:ext cx="8010144" cy="658368"/>
          </a:xfrm>
          <a:prstGeom prst="roundRect">
            <a:avLst>
              <a:gd name="adj" fmla="val 16667"/>
            </a:avLst>
          </a:prstGeom>
          <a:solidFill>
            <a:srgbClr val="7CF0D2">
              <a:alpha val="2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84048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33"/>
                </a:solidFill>
              </a:rPr>
              <a:t>Pertanyaan pemandu: apa yang berubah ketika nilainya diubah, dan mengapa hal itu terjadi?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XI.2 · Strategi Algoritmik dan Justifikasi Efisiensi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Keputusan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Kriteria memilih solusi terbaik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Kebenaran lebih dahulu, baru efisiensi.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Pertimbangkan keterbacaan dan kemudahan pemeliharaan.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Perhitungkan keterbatasan perangkat dan waktu pengembangan.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Tuliskan justifikasi: mengapa pilihan ini, apa kelebihan dan keterbatasannya.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XI.2 · Strategi Algoritmik dan Justifikasi Efisiensi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Refleksi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Mari kita refleksikan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Apa hal baru yang saya pahami pada pertemuan ini?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Bagian mana yang masih membingungkan bagi saya?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Apa yang akan saya lakukan untuk memperbaikinya?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Di mana konsep ini dapat saya pakai di kehidupan sehari-hari?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XI.2 · Strategi Algoritmik dan Justifikasi Efisiensi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64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206240" cy="4206240"/>
          </a:xfrm>
          <a:prstGeom prst="ellipse">
            <a:avLst/>
          </a:prstGeom>
          <a:solidFill>
            <a:srgbClr val="00A186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188720" y="3291840"/>
            <a:ext cx="2926080" cy="2926080"/>
          </a:xfrm>
          <a:prstGeom prst="ellipse">
            <a:avLst/>
          </a:prstGeom>
          <a:solidFill>
            <a:srgbClr val="7CF0D2">
              <a:alpha val="2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676656"/>
            <a:ext cx="475488" cy="64008"/>
          </a:xfrm>
          <a:prstGeom prst="rect">
            <a:avLst/>
          </a:prstGeom>
          <a:solidFill>
            <a:srgbClr val="7CF0D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53035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CF0D2"/>
                </a:solidFill>
              </a:rPr>
              <a:t>XI.3 · Ganjil · 12 JP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0584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Struktur Data Kompleks dan Abstrak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9748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7E6FB"/>
                </a:solidFill>
              </a:rPr>
              <a:t>Senarai bertaut, pohon, graf, dan tabel hash untuk persoalan yang lebih rumit.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886200"/>
            <a:ext cx="1965960" cy="384048"/>
          </a:xfrm>
          <a:prstGeom prst="roundRect">
            <a:avLst>
              <a:gd name="adj" fmla="val 47619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7CF0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388620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Berpikir Komputasional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60904" y="3886200"/>
            <a:ext cx="644652" cy="384048"/>
          </a:xfrm>
          <a:prstGeom prst="roundRect">
            <a:avLst>
              <a:gd name="adj" fmla="val 47619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7CF0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60904" y="3886200"/>
            <a:ext cx="644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 JP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DBAE8"/>
                </a:solidFill>
              </a:rPr>
              <a:t>Mutmainnah Syam, S.Pd., M.Pd.  ·  SMA Negeri 11 Pinrang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Pemantik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Bagaimana peta menemukan rute tercepat?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Jutaan ruas jalan ditelusuri dalam hitungan detik.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Rahasianya terletak pada struktur data dan algoritma penelusurannya.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XI.3 · Struktur Data Kompleks dan Abstrak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Konsep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Tipe data abstrak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Tipe data abstrak menjelaskan operasi apa yang tersedia, bukan bagaimana disimpan.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Contoh: antrean punya operasi enqueue dan dequeue, tak peduli dibuat dari larik atau senarai bertaut.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Abstraksi memisahkan pengguna struktur dari rincian implementasi.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XI.3 · Struktur Data Kompleks dan Abstrak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Senarai bertaut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Linked list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Setiap simpul menyimpan data dan penunjuk ke simpul berikutnya.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Penambahan dan penghapusan di tengah murah; cukup mengubah penunjuk.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Kelemahan: untuk mencapai elemen ke-n harus ditelusuri dari awal.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Varian: senarai tunggal, ganda, dan melingkar.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XI.3 · Struktur Data Kompleks dan Abstrak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Pohon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Hierarki tanpa siklus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Istilah: akar, simpul anak, daun, dan kedalaman.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Pohon biner pencarian menyimpan data terurut sehingga pencarian cepat.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Contoh penerapan: struktur organisasi sekolah, sistem berkas, dan menu aplikasi.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XI.3 · Struktur Data Kompleks dan Abstrak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Graf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Relasi bebas antarsimpul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Terdiri atas simpul (vertex) dan sisi (edge); bisa berarah atau tidak berarah, berbobot atau tidak.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Representasi: matriks ketetanggaan atau daftar ketetanggaan.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Penelusuran: BFS (melebar) dan DFS (mendalam).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Penerapan: peta jalan, jejaring sosial, dan jaringan komputer.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XI.3 · Struktur Data Kompleks dan Abstrak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5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6403A"/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-502920"/>
            <a:ext cx="2011680" cy="2011680"/>
          </a:xfrm>
          <a:prstGeom prst="ellipse">
            <a:avLst/>
          </a:prstGeom>
          <a:solidFill>
            <a:srgbClr val="7CF0D2">
              <a:alpha val="4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82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7CF0D2"/>
                </a:solidFill>
              </a:rPr>
              <a:t>SIMULASI INTERAKTIF  ·  MENGAPLIKASI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572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Penelusuran Graf BFS dan DFS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8010144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0E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600200"/>
            <a:ext cx="7406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A4060"/>
                </a:solidFill>
              </a:rPr>
              <a:t>Buka aplikasi media pembelajaran, masuk ke pertemuan XI.3, lalu pilih salindia bertanda 🧪 — atau buka menu Simulasi dan pilih "Penelusuran Graf BFS dan DFS".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i="1" dirty="0">
                <a:solidFill>
                  <a:srgbClr val="6A7090"/>
                </a:solidFill>
              </a:rPr>
              <a:t>Dikaitkan dengan materi: Relasi bebas antarsimpul</a:t>
            </a:r>
            <a:endParaRPr lang="en-US" sz="1300" dirty="0"/>
          </a:p>
          <a:p>
            <a:pPr indent="0" marL="0">
              <a:buNone/>
            </a:pPr>
            <a:r>
              <a:rPr lang="en-US" sz="1250" dirty="0">
                <a:solidFill>
                  <a:srgbClr val="3A4060"/>
                </a:solidFill>
              </a:rPr>
              <a:t>Langkah murid: amati → ubah nilainya → catat yang berubah → simpulkan bersama kelompok.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3840480"/>
            <a:ext cx="8010144" cy="658368"/>
          </a:xfrm>
          <a:prstGeom prst="roundRect">
            <a:avLst>
              <a:gd name="adj" fmla="val 16667"/>
            </a:avLst>
          </a:prstGeom>
          <a:solidFill>
            <a:srgbClr val="7CF0D2">
              <a:alpha val="2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84048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33"/>
                </a:solidFill>
              </a:rPr>
              <a:t>Pertanyaan pemandu: apa yang berubah ketika nilainya diubah, dan mengapa hal itu terjadi?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XI.3 · Struktur Data Kompleks dan Abstrak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Tabel hash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Pencarian nyaris seketika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Fungsi hash mengubah kunci menjadi indeks lokasi penyimpanan.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Pencarian rata-rata hanya perlu satu langkah, jauh lebih cepat daripada menelusuri daftar.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Tabrakan (collision) ditangani dengan rantai atau penempatan terbuka.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Penerapan: pencarian kontak, kamus, dan penyimpanan sesi pengguna.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XI.3 · Struktur Data Kompleks dan Abstrak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Keputusan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Memilih struktur data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Data tetap dan sering diakses per indeks → larik.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Banyak penyisipan dan penghapusan → senarai bertaut.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Hubungan berjenjang → pohon.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Relasi bebas antarobjek → graf.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Pencarian cepat berdasarkan kunci unik → tabel hash.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XI.3 · Struktur Data Kompleks dan Abstrak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Refleksi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Mari kita refleksikan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Apa hal baru yang saya pahami pada pertemuan ini?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Bagian mana yang masih membingungkan bagi saya?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Apa yang akan saya lakukan untuk memperbaikinya?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Di mana konsep ini dapat saya pakai di kehidupan sehari-hari?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XI.3 · Struktur Data Kompleks dan Abstrak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64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206240" cy="4206240"/>
          </a:xfrm>
          <a:prstGeom prst="ellipse">
            <a:avLst/>
          </a:prstGeom>
          <a:solidFill>
            <a:srgbClr val="00A186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188720" y="3291840"/>
            <a:ext cx="2926080" cy="2926080"/>
          </a:xfrm>
          <a:prstGeom prst="ellipse">
            <a:avLst/>
          </a:prstGeom>
          <a:solidFill>
            <a:srgbClr val="7CF0D2">
              <a:alpha val="2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676656"/>
            <a:ext cx="475488" cy="64008"/>
          </a:xfrm>
          <a:prstGeom prst="rect">
            <a:avLst/>
          </a:prstGeom>
          <a:solidFill>
            <a:srgbClr val="7CF0D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53035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CF0D2"/>
                </a:solidFill>
              </a:rPr>
              <a:t>XI.4 · Ganjil · 4 JP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0584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Model dan Topologi Jaringan Komputer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9748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7E6FB"/>
                </a:solidFill>
              </a:rPr>
              <a:t>Jenis jaringan, topologi, dan lapisan model TCP/IP.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886200"/>
            <a:ext cx="1965960" cy="384048"/>
          </a:xfrm>
          <a:prstGeom prst="roundRect">
            <a:avLst>
              <a:gd name="adj" fmla="val 47619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7CF0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388620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Berpikir Komputasional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60904" y="3886200"/>
            <a:ext cx="566928" cy="384048"/>
          </a:xfrm>
          <a:prstGeom prst="roundRect">
            <a:avLst>
              <a:gd name="adj" fmla="val 47619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7CF0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60904" y="388620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 JP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DBAE8"/>
                </a:solidFill>
              </a:rPr>
              <a:t>Mutmainnah Syam, S.Pd., M.Pd.  ·  SMA Negeri 11 Pinrang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Jenis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Cakupan jaringan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PAN — antarperangkat pribadi, misalnya bluetooth.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LAN — satu gedung atau sekolah.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MAN — satu kota.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WAN — antarkota dan antarnegara; internet adalah WAN terbesar.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XI.4 · Model dan Topologi Jaringan Komputer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Topologi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Pola hubungan perangkat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Bus: satu kabel utama; murah tetapi satu gangguan melumpuhkan semua.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Bintang: terpusat pada switch; paling umum di sekolah, mudah dirawat.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Cincin: data berputar searah; gangguan satu titik mengganggu jalur.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Mesh: setiap perangkat saling terhubung; sangat andal tetapi mahal.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XI.4 · Model dan Topologi Jaringan Komputer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5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6403A"/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-502920"/>
            <a:ext cx="2011680" cy="2011680"/>
          </a:xfrm>
          <a:prstGeom prst="ellipse">
            <a:avLst/>
          </a:prstGeom>
          <a:solidFill>
            <a:srgbClr val="7CF0D2">
              <a:alpha val="4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82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7CF0D2"/>
                </a:solidFill>
              </a:rPr>
              <a:t>SIMULASI INTERAKTIF  ·  MENGAPLIKASI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572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Jaringan dan Troubleshooting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8010144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0E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600200"/>
            <a:ext cx="7406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A4060"/>
                </a:solidFill>
              </a:rPr>
              <a:t>Buka aplikasi media pembelajaran, masuk ke pertemuan XI.4, lalu pilih salindia bertanda 🧪 — atau buka menu Simulasi dan pilih "Jaringan dan Troubleshooting".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i="1" dirty="0">
                <a:solidFill>
                  <a:srgbClr val="6A7090"/>
                </a:solidFill>
              </a:rPr>
              <a:t>Dikaitkan dengan materi: Pola hubungan perangkat</a:t>
            </a:r>
            <a:endParaRPr lang="en-US" sz="1300" dirty="0"/>
          </a:p>
          <a:p>
            <a:pPr indent="0" marL="0">
              <a:buNone/>
            </a:pPr>
            <a:r>
              <a:rPr lang="en-US" sz="1250" dirty="0">
                <a:solidFill>
                  <a:srgbClr val="3A4060"/>
                </a:solidFill>
              </a:rPr>
              <a:t>Langkah murid: amati → ubah nilainya → catat yang berubah → simpulkan bersama kelompok.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3840480"/>
            <a:ext cx="8010144" cy="658368"/>
          </a:xfrm>
          <a:prstGeom prst="roundRect">
            <a:avLst>
              <a:gd name="adj" fmla="val 16667"/>
            </a:avLst>
          </a:prstGeom>
          <a:solidFill>
            <a:srgbClr val="7CF0D2">
              <a:alpha val="2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84048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33"/>
                </a:solidFill>
              </a:rPr>
              <a:t>Pertanyaan pemandu: apa yang berubah ketika nilainya diubah, dan mengapa hal itu terjadi?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XI.4 · Model dan Topologi Jaringan Komputer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Model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Empat lapisan TCP/IP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Aplikasi — HTTP, DNS, SMTP; yang dilihat pengguna.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Transport — TCP dan UDP; memastikan data sampai utuh dan berurutan.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Internet — IP; pengalamatan logis dan penentuan rute.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Akses jaringan — ethernet dan wifi; pengiriman bit di media fisik.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XI.4 · Model dan Topologi Jaringan Komputer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Manfaat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Mengapa berlapis?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Gangguan dapat ditelusuri lapis demi lapis, dari kabel hingga aplikasi.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Perubahan di satu lapisan tidak mengharuskan perubahan di lapisan lain.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Perangkat dari pabrikan berbeda dapat saling bekerja sama.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XI.4 · Model dan Topologi Jaringan Komputer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Refleksi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Mari kita refleksikan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Apa hal baru yang saya pahami pada pertemuan ini?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Bagian mana yang masih membingungkan bagi saya?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Apa yang akan saya lakukan untuk memperbaikinya?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Di mana konsep ini dapat saya pakai di kehidupan sehari-hari?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XI.4 · Model dan Topologi Jaringan Komputer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64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206240" cy="4206240"/>
          </a:xfrm>
          <a:prstGeom prst="ellipse">
            <a:avLst/>
          </a:prstGeom>
          <a:solidFill>
            <a:srgbClr val="00A186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188720" y="3291840"/>
            <a:ext cx="2926080" cy="2926080"/>
          </a:xfrm>
          <a:prstGeom prst="ellipse">
            <a:avLst/>
          </a:prstGeom>
          <a:solidFill>
            <a:srgbClr val="7CF0D2">
              <a:alpha val="2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676656"/>
            <a:ext cx="475488" cy="64008"/>
          </a:xfrm>
          <a:prstGeom prst="rect">
            <a:avLst/>
          </a:prstGeom>
          <a:solidFill>
            <a:srgbClr val="7CF0D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53035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CF0D2"/>
                </a:solidFill>
              </a:rPr>
              <a:t>XI.5 · Genap · 14 JP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0584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Pengiriman Data, Troubleshooting, dan Keamanan Jaringan Lanjut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9748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7E6FB"/>
                </a:solidFill>
              </a:rPr>
              <a:t>Pengalamatan IP, berbagi sumber daya, diagnosis gangguan, dan pengamanan lanjut.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886200"/>
            <a:ext cx="3108960" cy="384048"/>
          </a:xfrm>
          <a:prstGeom prst="roundRect">
            <a:avLst>
              <a:gd name="adj" fmla="val 47619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7CF0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38862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Berpikir Komputasional dan Literasi Digi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03904" y="3886200"/>
            <a:ext cx="644652" cy="384048"/>
          </a:xfrm>
          <a:prstGeom prst="roundRect">
            <a:avLst>
              <a:gd name="adj" fmla="val 47619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7CF0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03904" y="3886200"/>
            <a:ext cx="644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14 JP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DBAE8"/>
                </a:solidFill>
              </a:rPr>
              <a:t>Mutmainnah Syam, S.Pd., M.Pd.  ·  SMA Negeri 11 Pinrang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Pengalamatan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Alamat IP dan subnet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IPv4 ditulis empat angka 0–255, misalnya 192.168.1.10.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Subnet mask menentukan bagian jaringan dan bagian host.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Alamat privat (192.168.x.x, 10.x.x.x) dipakai di jaringan lokal.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DHCP memberi alamat otomatis; alamat statis dipakai untuk server dan pencetak.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XI.5 · Pengiriman Data, Troubleshooting, dan Keamanan Jaringan Lanjut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Pengiriman data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Berbagi sumber daya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Berbagi berkas dan pencetak dalam satu LAN.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Protokol transfer: HTTP/HTTPS, FTP/SFTP, dan SMB untuk berbagi berkas.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Data dipecah menjadi paket, diberi alamat, dikirim, lalu disusun ulang di tujuan.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XI.5 · Pengiriman Data, Troubleshooting, dan Keamanan Jaringan Lanjut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4F5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6403A"/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-502920"/>
            <a:ext cx="2011680" cy="2011680"/>
          </a:xfrm>
          <a:prstGeom prst="ellipse">
            <a:avLst/>
          </a:prstGeom>
          <a:solidFill>
            <a:srgbClr val="7CF0D2">
              <a:alpha val="4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82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7CF0D2"/>
                </a:solidFill>
              </a:rPr>
              <a:t>SIMULASI INTERAKTIF  ·  MENGAPLIKASI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572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Jaringan dan Troubleshooting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8010144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0E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600200"/>
            <a:ext cx="7406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A4060"/>
                </a:solidFill>
              </a:rPr>
              <a:t>Buka aplikasi media pembelajaran, masuk ke pertemuan XI.5, lalu pilih salindia bertanda 🧪 — atau buka menu Simulasi dan pilih "Jaringan dan Troubleshooting".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i="1" dirty="0">
                <a:solidFill>
                  <a:srgbClr val="6A7090"/>
                </a:solidFill>
              </a:rPr>
              <a:t>Dikaitkan dengan materi: Berbagi sumber daya</a:t>
            </a:r>
            <a:endParaRPr lang="en-US" sz="1300" dirty="0"/>
          </a:p>
          <a:p>
            <a:pPr indent="0" marL="0">
              <a:buNone/>
            </a:pPr>
            <a:r>
              <a:rPr lang="en-US" sz="1250" dirty="0">
                <a:solidFill>
                  <a:srgbClr val="3A4060"/>
                </a:solidFill>
              </a:rPr>
              <a:t>Langkah murid: amati → ubah nilainya → catat yang berubah → simpulkan bersama kelompok.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3840480"/>
            <a:ext cx="8010144" cy="658368"/>
          </a:xfrm>
          <a:prstGeom prst="roundRect">
            <a:avLst>
              <a:gd name="adj" fmla="val 16667"/>
            </a:avLst>
          </a:prstGeom>
          <a:solidFill>
            <a:srgbClr val="7CF0D2">
              <a:alpha val="2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84048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33"/>
                </a:solidFill>
              </a:rPr>
              <a:t>Pertanyaan pemandu: apa yang berubah ketika nilainya diubah, dan mengapa hal itu terjadi?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XI.5 · Pengiriman Data, Troubleshooting, dan Keamanan Jaringan Lanjut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Troubleshooting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Diagnosis berlapis dari bawah ke atas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3A4060"/>
                </a:solidFill>
              </a:rPr>
              <a:t>1. Fisik: kabel, lampu indikator, daya perangkat.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3A4060"/>
                </a:solidFill>
              </a:rPr>
              <a:t>2. Koneksi: apakah mendapat alamat IP? ipconfig / ifconfig.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3A4060"/>
                </a:solidFill>
              </a:rPr>
              <a:t>3. Jalur: uji dengan ping ke gateway, lalu ke internet.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3A4060"/>
                </a:solidFill>
              </a:rPr>
              <a:t>4. Nama: uji DNS dengan nslookup; coba buka alamat IP langsung.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3A4060"/>
                </a:solidFill>
              </a:rPr>
              <a:t>5. Aplikasi: periksa pengaturan peramban, firewall, dan proxy.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3A4060"/>
                </a:solidFill>
              </a:rPr>
              <a:t>Catat setiap langkah dan hasilnya agar penanganan dapat diulang.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XI.5 · Pengiriman Data, Troubleshooting, dan Keamanan Jaringan Lanjut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4F5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6403A"/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-502920"/>
            <a:ext cx="2011680" cy="2011680"/>
          </a:xfrm>
          <a:prstGeom prst="ellipse">
            <a:avLst/>
          </a:prstGeom>
          <a:solidFill>
            <a:srgbClr val="7CF0D2">
              <a:alpha val="4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82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7CF0D2"/>
                </a:solidFill>
              </a:rPr>
              <a:t>SIMULASI INTERAKTIF  ·  MENGAPLIKASI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572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Jaringan dan Troubleshooting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8010144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0E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600200"/>
            <a:ext cx="7406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A4060"/>
                </a:solidFill>
              </a:rPr>
              <a:t>Buka aplikasi media pembelajaran, masuk ke pertemuan XI.5, lalu pilih salindia bertanda 🧪 — atau buka menu Simulasi dan pilih "Jaringan dan Troubleshooting".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i="1" dirty="0">
                <a:solidFill>
                  <a:srgbClr val="6A7090"/>
                </a:solidFill>
              </a:rPr>
              <a:t>Dikaitkan dengan materi: Diagnosis berlapis dari bawah ke atas</a:t>
            </a:r>
            <a:endParaRPr lang="en-US" sz="1300" dirty="0"/>
          </a:p>
          <a:p>
            <a:pPr indent="0" marL="0">
              <a:buNone/>
            </a:pPr>
            <a:r>
              <a:rPr lang="en-US" sz="1250" dirty="0">
                <a:solidFill>
                  <a:srgbClr val="3A4060"/>
                </a:solidFill>
              </a:rPr>
              <a:t>Langkah murid: amati → ubah nilainya → catat yang berubah → simpulkan bersama kelompok.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3840480"/>
            <a:ext cx="8010144" cy="658368"/>
          </a:xfrm>
          <a:prstGeom prst="roundRect">
            <a:avLst>
              <a:gd name="adj" fmla="val 16667"/>
            </a:avLst>
          </a:prstGeom>
          <a:solidFill>
            <a:srgbClr val="7CF0D2">
              <a:alpha val="2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84048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33"/>
                </a:solidFill>
              </a:rPr>
              <a:t>Pertanyaan pemandu: apa yang berubah ketika nilainya diubah, dan mengapa hal itu terjadi?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XI.5 · Pengiriman Data, Troubleshooting, dan Keamanan Jaringan Lanjut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Keamanan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Pengamanan lanjut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Firewall menyaring lalu lintas berdasarkan aturan.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Enkripsi membuat data tak terbaca pihak lain; HTTPS dan WPA3 adalah contohnya.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VPN membuat terowongan aman melewati jaringan publik.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Segmentasi jaringan memisahkan jaringan guru, murid, dan tamu.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Pembaruan berkala menutup celah keamanan yang sudah diketahui.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XI.5 · Pengiriman Data, Troubleshooting, dan Keamanan Jaringan Lanjut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Etika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Tanggung jawab pengelola jaringan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Akses administratif adalah amanah, bukan alat untuk mengintip orang lain.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Menyadap atau masuk ke sistem tanpa izin melanggar hukum.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Laporkan celah keamanan yang ditemukan kepada pihak berwenang di sekolah.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XI.5 · Pengiriman Data, Troubleshooting, dan Keamanan Jaringan Lanjut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Refleksi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Mari kita refleksikan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Apa hal baru yang saya pahami pada pertemuan ini?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Bagian mana yang masih membingungkan bagi saya?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Apa yang akan saya lakukan untuk memperbaikinya?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Di mana konsep ini dapat saya pakai di kehidupan sehari-hari?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XI.5 · Pengiriman Data, Troubleshooting, dan Keamanan Jaringan Lanjut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64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206240" cy="4206240"/>
          </a:xfrm>
          <a:prstGeom prst="ellipse">
            <a:avLst/>
          </a:prstGeom>
          <a:solidFill>
            <a:srgbClr val="00A186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188720" y="3291840"/>
            <a:ext cx="2926080" cy="2926080"/>
          </a:xfrm>
          <a:prstGeom prst="ellipse">
            <a:avLst/>
          </a:prstGeom>
          <a:solidFill>
            <a:srgbClr val="7CF0D2">
              <a:alpha val="2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676656"/>
            <a:ext cx="475488" cy="64008"/>
          </a:xfrm>
          <a:prstGeom prst="rect">
            <a:avLst/>
          </a:prstGeom>
          <a:solidFill>
            <a:srgbClr val="7CF0D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53035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CF0D2"/>
                </a:solidFill>
              </a:rPr>
              <a:t>XI.6 · Genap · 22 JP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0584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Riset Digital, Verifikasi Konten, dan Analisis Data untuk Pengambilan Keputusan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9748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7E6FB"/>
                </a:solidFill>
              </a:rPr>
              <a:t>Riset lanjut, verifikasi teks–gambar–video, data terbuka, pengolahan, dan visualisasi.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3886200"/>
            <a:ext cx="2898648" cy="384048"/>
          </a:xfrm>
          <a:prstGeom prst="roundRect">
            <a:avLst>
              <a:gd name="adj" fmla="val 47619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7CF0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3886200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Literasi Digital dan Analisis Data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593592" y="3886200"/>
            <a:ext cx="644652" cy="384048"/>
          </a:xfrm>
          <a:prstGeom prst="roundRect">
            <a:avLst>
              <a:gd name="adj" fmla="val 47619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7CF0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93592" y="3886200"/>
            <a:ext cx="644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22 JP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DBAE8"/>
                </a:solidFill>
              </a:rPr>
              <a:t>Mutmainnah Syam, S.Pd., M.Pd.  ·  SMA Negeri 11 Pinrang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Riset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Strategi riset digital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Rumuskan pertanyaan riset yang spesifik dan dapat dijawab data.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Gunakan operator pencarian, mesin pencari akademik, dan portal resmi.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Kelola daftar sumber sejak awal: judul, penulis, penerbit, tahun, dan tautan.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XI.6 · Riset Digital, Verifikasi Konten, dan Analisis Data untuk Pengambilan Keputusan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Verifikasi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Memeriksa teks, gambar, dan video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Teks: telusuri klaim ke sumber aslinya, bukan ke unggahan ulang.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Gambar: pencarian gambar terbalik, periksa bayangan, cuaca, papan nama, dan metadata.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Video: periksa potongan dan konteks; cari versi utuh dan tanggal unggah pertama.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Waspadai konten sintetis (AI) — cek kejanggalan tangan, teks, dan suara.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XI.6 · Riset Digital, Verifikasi Konten, dan Analisis Data untuk Pengambilan Keputusan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4F5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6403A"/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-502920"/>
            <a:ext cx="2011680" cy="2011680"/>
          </a:xfrm>
          <a:prstGeom prst="ellipse">
            <a:avLst/>
          </a:prstGeom>
          <a:solidFill>
            <a:srgbClr val="7CF0D2">
              <a:alpha val="4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82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7CF0D2"/>
                </a:solidFill>
              </a:rPr>
              <a:t>SIMULASI INTERAKTIF  ·  MENGAPLIKASI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572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Latihan Periksa Fakta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8010144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0E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600200"/>
            <a:ext cx="7406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A4060"/>
                </a:solidFill>
              </a:rPr>
              <a:t>Buka aplikasi media pembelajaran, masuk ke pertemuan XI.6, lalu pilih salindia bertanda 🧪 — atau buka menu Simulasi dan pilih "Latihan Periksa Fakta".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i="1" dirty="0">
                <a:solidFill>
                  <a:srgbClr val="6A7090"/>
                </a:solidFill>
              </a:rPr>
              <a:t>Dikaitkan dengan materi: Memeriksa teks, gambar, dan video</a:t>
            </a:r>
            <a:endParaRPr lang="en-US" sz="1300" dirty="0"/>
          </a:p>
          <a:p>
            <a:pPr indent="0" marL="0">
              <a:buNone/>
            </a:pPr>
            <a:r>
              <a:rPr lang="en-US" sz="1250" dirty="0">
                <a:solidFill>
                  <a:srgbClr val="3A4060"/>
                </a:solidFill>
              </a:rPr>
              <a:t>Langkah murid: amati → ubah nilainya → catat yang berubah → simpulkan bersama kelompok.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3840480"/>
            <a:ext cx="8010144" cy="658368"/>
          </a:xfrm>
          <a:prstGeom prst="roundRect">
            <a:avLst>
              <a:gd name="adj" fmla="val 16667"/>
            </a:avLst>
          </a:prstGeom>
          <a:solidFill>
            <a:srgbClr val="7CF0D2">
              <a:alpha val="2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84048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33"/>
                </a:solidFill>
              </a:rPr>
              <a:t>Pertanyaan pemandu: apa yang berubah ketika nilainya diubah, dan mengapa hal itu terjadi?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XI.6 · Riset Digital, Verifikasi Konten, dan Analisis Data untuk Pengambilan Keputusan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Data terbuka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Sumber yang legal dan tepercaya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Portal data pemerintah pusat dan daerah, lembaga statistik, serta data sekolah.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Periksa lisensi dan ketentuan penggunaan sebelum mengolah dan memublikasikan.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Catat metadata: siapa yang mengumpulkan, kapan, bagaimana, dan cakupannya.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XI.6 · Riset Digital, Verifikasi Konten, dan Analisis Data untuk Pengambilan Keputusan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Pengolahan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Membersihkan dan merapikan data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Hapus duplikat, perbaiki format tanggal dan angka, samakan penulisan kategori.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Tandai data kosong; jangan diam-diam diisi dengan tebakan.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Satu baris satu amatan, satu kolom satu variabel.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XI.6 · Riset Digital, Verifikasi Konten, dan Analisis Data untuk Pengambilan Keputusan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Analisis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Statistik deskriptif dan prediksi sederhana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Pusat data: rerata, median, modus. Sebaran: jangkauan dan simpangan.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Rerata mudah tertarik nilai ekstrem; median lebih tahan pencilan.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Pola kecenderungan dapat dipakai memprediksi, tetapi selalu sertakan ketidakpastian.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Korelasi bukan sebab-akibat.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XI.6 · Riset Digital, Verifikasi Konten, dan Analisis Data untuk Pengambilan Keputusan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4F5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06403A"/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-502920"/>
            <a:ext cx="2011680" cy="2011680"/>
          </a:xfrm>
          <a:prstGeom prst="ellipse">
            <a:avLst/>
          </a:prstGeom>
          <a:solidFill>
            <a:srgbClr val="7CF0D2">
              <a:alpha val="4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82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7CF0D2"/>
                </a:solidFill>
              </a:rPr>
              <a:t>SIMULASI INTERAKTIF  ·  MENGAPLIKASI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572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Analisis Data Mini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8010144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0E3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600200"/>
            <a:ext cx="7406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A4060"/>
                </a:solidFill>
              </a:rPr>
              <a:t>Buka aplikasi media pembelajaran, masuk ke pertemuan XI.6, lalu pilih salindia bertanda 🧪 — atau buka menu Simulasi dan pilih "Analisis Data Mini".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i="1" dirty="0">
                <a:solidFill>
                  <a:srgbClr val="6A7090"/>
                </a:solidFill>
              </a:rPr>
              <a:t>Dikaitkan dengan materi: Statistik deskriptif dan prediksi sederhana</a:t>
            </a:r>
            <a:endParaRPr lang="en-US" sz="1300" dirty="0"/>
          </a:p>
          <a:p>
            <a:pPr indent="0" marL="0">
              <a:buNone/>
            </a:pPr>
            <a:r>
              <a:rPr lang="en-US" sz="1250" dirty="0">
                <a:solidFill>
                  <a:srgbClr val="3A4060"/>
                </a:solidFill>
              </a:rPr>
              <a:t>Langkah murid: amati → ubah nilainya → catat yang berubah → simpulkan bersama kelompok.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3840480"/>
            <a:ext cx="8010144" cy="658368"/>
          </a:xfrm>
          <a:prstGeom prst="roundRect">
            <a:avLst>
              <a:gd name="adj" fmla="val 16667"/>
            </a:avLst>
          </a:prstGeom>
          <a:solidFill>
            <a:srgbClr val="7CF0D2">
              <a:alpha val="2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84048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33"/>
                </a:solidFill>
              </a:rPr>
              <a:t>Pertanyaan pemandu: apa yang berubah ketika nilainya diubah, dan mengapa hal itu terjadi?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XI.6 · Riset Digital, Verifikasi Konten, dan Analisis Data untuk Pengambilan Keputusan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Komunikasi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Visualisasi yang jujur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Pilih grafik sesuai jenis data dan beri judul yang menyatakan temuan.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Mulai sumbu nilai dari nol untuk diagram batang.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Sertakan sumber data dan jumlah responden.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Tutup laporan dengan rekomendasi yang dapat ditindaklanjuti sekolah.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XI.6 · Riset Digital, Verifikasi Konten, dan Analisis Data untuk Pengambilan Keputusan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5143500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822960"/>
            <a:ext cx="2377440" cy="2377440"/>
          </a:xfrm>
          <a:prstGeom prst="ellipse">
            <a:avLst/>
          </a:prstGeom>
          <a:solidFill>
            <a:srgbClr val="7CF0D2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475488"/>
            <a:ext cx="384048" cy="54864"/>
          </a:xfrm>
          <a:prstGeom prst="rect">
            <a:avLst/>
          </a:prstGeom>
          <a:solidFill>
            <a:srgbClr val="00A18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3291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0A186"/>
                </a:solidFill>
              </a:rPr>
              <a:t>Refleksi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94944"/>
            <a:ext cx="7955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833"/>
                </a:solidFill>
              </a:rPr>
              <a:t>Mari kita refleksikan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9164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Apa hal baru yang saya pahami pada pertemuan ini?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Bagian mana yang masih membingungkan bagi saya?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Apa yang akan saya lakukan untuk memperbaikinya?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50" dirty="0">
                <a:solidFill>
                  <a:srgbClr val="3A4060"/>
                </a:solidFill>
              </a:rPr>
              <a:t>Di mana konsep ini dapat saya pakai di kehidupan sehari-hari?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66928" y="4645152"/>
            <a:ext cx="8010144" cy="10973"/>
          </a:xfrm>
          <a:prstGeom prst="rect">
            <a:avLst/>
          </a:prstGeom>
          <a:solidFill>
            <a:srgbClr val="E0E3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470001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XI.6 · Riset Digital, Verifikasi Konten, dan Analisis Data untuk Pengambilan Keputusan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00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0AE"/>
                </a:solidFill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5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</vt:vector>
  </TitlesOfParts>
  <Company>SMA Negeri 11 Pinrang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Informatika Kelas XI — SMA Negeri 11 Pinrang</dc:title>
  <dc:subject>PptxGenJS Presentation</dc:subject>
  <dc:creator>Mutmainnah Syam, S.Pd., M.Pd.</dc:creator>
  <cp:lastModifiedBy>Mutmainnah Syam, S.Pd., M.Pd.</cp:lastModifiedBy>
  <cp:revision>1</cp:revision>
  <dcterms:created xsi:type="dcterms:W3CDTF">2026-10-03T15:18:08Z</dcterms:created>
  <dcterms:modified xsi:type="dcterms:W3CDTF">2026-10-03T15:18:08Z</dcterms:modified>
</cp:coreProperties>
</file>