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notesMasterIdLst>
    <p:notesMasterId r:id="rId5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Tujuan pembelajaran:
- XII.AP.1 Memahami dan memilih strategi algoritmik yang tepat.
- XII.AP.2 Mengembangkan program terstruktur dari notasi algoritma.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Murid mencoba simulasi di aplikasi; guru berkeliling memberi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Murid mencoba simulasi di aplikasi; guru berkeliling memberi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Tujuan pembelajaran:
- XII.AP.3 Mengembangkan algoritma standar ke kode sumber dengan memperhatikan kualitas.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Murid mencoba simulasi di aplikasi; guru berkeliling memberi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Murid mencoba simulasi di aplikasi; guru berkeliling memberi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Murid mencoba simulasi di aplikasi; guru berkeliling memberi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Tujuan pembelajaran:
- XII.AP.4 Memelihara dan menyempurnakan program melalui pengujian, penelusuran kesalahan, perapian kode, dan dokumentasi.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Murid mencoba simulasi di aplikasi; guru berkeliling memberi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Murid mencoba simulasi di aplikasi; guru berkeliling memberi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Tujuan pembelajaran:
- XII.AP.5 Mengimplementasikan program dengan struktur data kompleks.
- XII.AP.6 Memanfaatkan library secara tepat.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Murid mencoba simulasi di aplikasi; guru berkeliling memberi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Tujuan pembelajaran:
- XII.LD.1 Merancang kebutuhan sistem komputer sesuai kebutuhan pengguna.
- XII.LD.2 Mengkreasi konten digital dengan peralatan dan metode bervariasi.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Murid mencoba simulasi di aplikasi; guru berkeliling memberi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Tujuan pembelajaran:
- XII.LD.3 Memahami hukum dan perundang-undangan isu digital.
- XII.LD.4 Memahami pemanfaatan teknologi digital dalam demokrasi.
- XII.LD.5 Menerapkan keamanan akun lanjut.
- XII.LD.6 Memahami loka pasar, perbankan, dan dompet digital beserta keamanannya.
- XII.AP.5 Merancang dan mengimplementasikan karya digital solusi persoalan nyata.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Murid mencoba simulasi di aplikasi; guru berkeliling memberi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Murid mencoba simulasi di aplikasi; guru berkeliling memberi umpan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8338A8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FF8A5B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8A5B"/>
                </a:solidFill>
              </a:rPr>
              <a:t>INFORMATIKA · FASE F · T.P. 2026/2027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0584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Slide Pembelajaran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Kelas XII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69748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6FB"/>
                </a:solidFill>
              </a:rPr>
              <a:t>6 pertemuan · 72 JP · dilengkapi simulasi interaktif pada setiap pertemuan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886200"/>
            <a:ext cx="1888236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8A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886200"/>
            <a:ext cx="18882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SMA Negeri 11 Pinrang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83180" y="3886200"/>
            <a:ext cx="1577340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8A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83180" y="3886200"/>
            <a:ext cx="15773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Kurikulum Merdeka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88536" y="3886200"/>
            <a:ext cx="800100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8A5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88536" y="3886200"/>
            <a:ext cx="800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CP 2025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BAE8"/>
                </a:solidFill>
              </a:rPr>
              <a:t>Mutmainnah Syam, S.Pd., M.Pd.  ·  SMA Negeri 11 Pinrang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D1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8338A8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FF8A5B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8A5B"/>
                </a:solidFill>
              </a:rPr>
              <a:t>XII.1 · Ganjil · 16 JP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0584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Strategi Algoritmik dan Pengembangan Program Terstruktur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69748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6FB"/>
                </a:solidFill>
              </a:rPr>
              <a:t>Dari pemilihan strategi, notasi algoritma, sampai program modular yang rapi.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886200"/>
            <a:ext cx="2199132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8A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886200"/>
            <a:ext cx="2199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Algoritma dan Pemrograman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94076" y="3886200"/>
            <a:ext cx="644652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8A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94076" y="3886200"/>
            <a:ext cx="644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16 JP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BAE8"/>
                </a:solidFill>
              </a:rPr>
              <a:t>Mutmainnah Syam, S.Pd., M.Pd.  ·  SMA Negeri 11 Pinrang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Pemantik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Program panjang yang sulit diperbaiki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Program 500 baris dalam satu fungsi hampir mustahil ditelusuri.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Program yang baik adalah penerjemahan setia dari algoritma yang dipilih secara sadar.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XII.1 · Strategi Algoritmik dan Pengembangan Program Terstruktur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Strategi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Memilih strategi sebelum mengetik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Pahami persoalan: masukan, keluaran, dan batasan ukuran data.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Pilih strategi: brute force untuk data kecil, greedy bila pilihan lokal terbukti optimal, divide and conquer bila persoalan dapat dipecah.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Tuliskan algoritma lebih dahulu dalam notasi, baru diterjemahkan ke kode.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XII.1 · Strategi Algoritmik dan Pengembangan Program Terstruktur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3D1452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502920"/>
            <a:ext cx="2011680" cy="2011680"/>
          </a:xfrm>
          <a:prstGeom prst="ellipse">
            <a:avLst/>
          </a:prstGeom>
          <a:solidFill>
            <a:srgbClr val="FF8A5B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82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F8A5B"/>
                </a:solidFill>
              </a:rPr>
              <a:t>SIMULASI INTERAKTIF  ·  MENGAPLIKASI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572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Brute Force vs Greedy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801014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00200"/>
            <a:ext cx="7406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A4060"/>
                </a:solidFill>
              </a:rPr>
              <a:t>Buka aplikasi media pembelajaran, masuk ke pertemuan XII.1, lalu pilih salindia bertanda 🧪 — atau buka menu Simulasi dan pilih "Brute Force vs Greedy".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6A7090"/>
                </a:solidFill>
              </a:rPr>
              <a:t>Dikaitkan dengan materi: Memilih strategi sebelum mengetik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Langkah murid: amati → ubah nilainya → catat yang berubah → simpulkan bersama kelompok.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840480"/>
            <a:ext cx="8010144" cy="658368"/>
          </a:xfrm>
          <a:prstGeom prst="roundRect">
            <a:avLst>
              <a:gd name="adj" fmla="val 16667"/>
            </a:avLst>
          </a:prstGeom>
          <a:solidFill>
            <a:srgbClr val="FF8A5B">
              <a:alpha val="2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84048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33"/>
                </a:solidFill>
              </a:rPr>
              <a:t>Pertanyaan pemandu: apa yang berubah ketika nilainya diubah, dan mengapa hal itu terjadi?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XII.1 · Strategi Algoritmik dan Pengembangan Program Terstruktur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Struktur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Tiga struktur dasar program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Runtunan: perintah dijalankan berurutan.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Percabangan: if, else if, else, dan switch.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Perulangan: for untuk jumlah pasti, while untuk kondisi.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Hindari lompatan tak beraturan yang membuat alur sulit diikuti.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XII.1 · Strategi Algoritmik dan Pengembangan Program Terstruktur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Modularisasi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Fungsi dan prosedur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Satu fungsi mengerjakan satu tugas yang jelas.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Parameter adalah masukan fungsi; nilai kembalian adalah hasilnya.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Variabel lokal mencegah efek samping yang sulit dilacak.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Fungsi memudahkan pengujian: setiap bagian dapat diuji terpisah.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XII.1 · Strategi Algoritmik dan Pengembangan Program Terstruktur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Rekursi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Fungsi yang memanggil dirinya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Perlu kasus dasar agar pemanggilan berhenti.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Contoh: faktorial, Fibonacci, dan penelusuran struktur pohon.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Rekursi membuat kode ringkas, tetapi boros memori tumpukan bila terlalu dalam.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XII.1 · Strategi Algoritmik dan Pengembangan Program Terstruktur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3D1452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502920"/>
            <a:ext cx="2011680" cy="2011680"/>
          </a:xfrm>
          <a:prstGeom prst="ellipse">
            <a:avLst/>
          </a:prstGeom>
          <a:solidFill>
            <a:srgbClr val="FF8A5B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82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F8A5B"/>
                </a:solidFill>
              </a:rPr>
              <a:t>SIMULASI INTERAKTIF  ·  MENGAPLIKASI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572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Penelusuran Pseudocode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801014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00200"/>
            <a:ext cx="7406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A4060"/>
                </a:solidFill>
              </a:rPr>
              <a:t>Buka aplikasi media pembelajaran, masuk ke pertemuan XII.1, lalu pilih salindia bertanda 🧪 — atau buka menu Simulasi dan pilih "Penelusuran Pseudocode".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6A7090"/>
                </a:solidFill>
              </a:rPr>
              <a:t>Dikaitkan dengan materi: Fungsi yang memanggil dirinya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Langkah murid: amati → ubah nilainya → catat yang berubah → simpulkan bersama kelompok.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840480"/>
            <a:ext cx="8010144" cy="658368"/>
          </a:xfrm>
          <a:prstGeom prst="roundRect">
            <a:avLst>
              <a:gd name="adj" fmla="val 16667"/>
            </a:avLst>
          </a:prstGeom>
          <a:solidFill>
            <a:srgbClr val="FF8A5B">
              <a:alpha val="2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84048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33"/>
                </a:solidFill>
              </a:rPr>
              <a:t>Pertanyaan pemandu: apa yang berubah ketika nilainya diubah, dan mengapa hal itu terjadi?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XII.1 · Strategi Algoritmik dan Pengembangan Program Terstruktur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Praktik baik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Menulis program yang hidup lama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Nama variabel dan fungsi menjelaskan maksudnya.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Konsisten dalam indentasi dan gaya penulisan.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Tangani masukan yang tidak wajar, jangan berasumsi pengguna selalu benar.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Uji setiap bagian segera setelah ditulis.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XII.1 · Strategi Algoritmik dan Pengembangan Program Terstruktur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Refleksi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Mari kita refleksikan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Apa hal baru yang saya pahami pada pertemuan ini?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Bagian mana yang masih membingungkan bagi saya?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Apa yang akan saya lakukan untuk memperbaikinya?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Di mana konsep ini dapat saya pakai di kehidupan sehari-hari?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XII.1 · Strategi Algoritmik dan Pengembangan Program Terstruktur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D1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8338A8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FF8A5B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8A5B"/>
                </a:solidFill>
              </a:rPr>
              <a:t>XII.2 · Ganjil · 10 JP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0584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Implementasi Algoritma Standar dan Kualitas Kode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69748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6FB"/>
                </a:solidFill>
              </a:rPr>
              <a:t>Menuliskan algoritma pencarian dan pengurutan ke kode sumber yang berkualitas.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886200"/>
            <a:ext cx="2199132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8A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886200"/>
            <a:ext cx="2199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Algoritma dan Pemrograman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94076" y="3886200"/>
            <a:ext cx="644652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8A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94076" y="3886200"/>
            <a:ext cx="644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 JP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BAE8"/>
                </a:solidFill>
              </a:rPr>
              <a:t>Mutmainnah Syam, S.Pd., M.Pd.  ·  SMA Negeri 11 Pinrang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Pemantik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Kode yang jalan belum tentu kode yang baik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Kode dibaca manusia jauh lebih sering daripada ditulis.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Kode buruk tetap berjalan hari ini, tetapi mahal diperbaiki bulan depan.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XII.2 · Implementasi Algoritma Standar dan Kualitas Kode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Implementasi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Dari algoritma ke kode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Terjemahkan langkah algoritma satu per satu, jangan langsung mengoptimalkan.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Pastikan batas indeks benar; kesalahan satu langkah (off-by-one) paling sering terjadi.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Uji dengan data kosong, satu elemen, data terurut, dan data terbalik.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XII.2 · Implementasi Algoritma Standar dan Kualitas Kode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5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3D1452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502920"/>
            <a:ext cx="2011680" cy="2011680"/>
          </a:xfrm>
          <a:prstGeom prst="ellipse">
            <a:avLst/>
          </a:prstGeom>
          <a:solidFill>
            <a:srgbClr val="FF8A5B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82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F8A5B"/>
                </a:solidFill>
              </a:rPr>
              <a:t>SIMULASI INTERAKTIF  ·  MENGAPLIKASI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572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Visualisasi Pengurutan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801014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00200"/>
            <a:ext cx="7406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A4060"/>
                </a:solidFill>
              </a:rPr>
              <a:t>Buka aplikasi media pembelajaran, masuk ke pertemuan XII.2, lalu pilih salindia bertanda 🧪 — atau buka menu Simulasi dan pilih "Visualisasi Pengurutan".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6A7090"/>
                </a:solidFill>
              </a:rPr>
              <a:t>Dikaitkan dengan materi: Dari algoritma ke kode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Langkah murid: amati → ubah nilainya → catat yang berubah → simpulkan bersama kelompok.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840480"/>
            <a:ext cx="8010144" cy="658368"/>
          </a:xfrm>
          <a:prstGeom prst="roundRect">
            <a:avLst>
              <a:gd name="adj" fmla="val 16667"/>
            </a:avLst>
          </a:prstGeom>
          <a:solidFill>
            <a:srgbClr val="FF8A5B">
              <a:alpha val="2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84048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33"/>
                </a:solidFill>
              </a:rPr>
              <a:t>Pertanyaan pemandu: apa yang berubah ketika nilainya diubah, dan mengapa hal itu terjadi?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XII.2 · Implementasi Algoritma Standar dan Kualitas Kode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Kualitas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Ciri kode yang berkualitas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Keterbacaan: nama bermakna, fungsi ringkas, indentasi konsisten.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Modularitas: tidak ada pengulangan kode yang sama di banyak tempat.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Dokumentasi: komentar menjelaskan 'mengapa', bukan mengulang 'apa'.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Efisiensi: pilih algoritma tepat sebelum mengutak-atik detail kecil.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XII.2 · Implementasi Algoritma Standar dan Kualitas Kode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5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3D1452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502920"/>
            <a:ext cx="2011680" cy="2011680"/>
          </a:xfrm>
          <a:prstGeom prst="ellipse">
            <a:avLst/>
          </a:prstGeom>
          <a:solidFill>
            <a:srgbClr val="FF8A5B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82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F8A5B"/>
                </a:solidFill>
              </a:rPr>
              <a:t>SIMULASI INTERAKTIF  ·  MENGAPLIKASI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572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Tinjauan Kualitas Kode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801014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00200"/>
            <a:ext cx="7406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A4060"/>
                </a:solidFill>
              </a:rPr>
              <a:t>Buka aplikasi media pembelajaran, masuk ke pertemuan XII.2, lalu pilih salindia bertanda 🧪 — atau buka menu Simulasi dan pilih "Tinjauan Kualitas Kode".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6A7090"/>
                </a:solidFill>
              </a:rPr>
              <a:t>Dikaitkan dengan materi: Ciri kode yang berkualitas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Langkah murid: amati → ubah nilainya → catat yang berubah → simpulkan bersama kelompok.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840480"/>
            <a:ext cx="8010144" cy="658368"/>
          </a:xfrm>
          <a:prstGeom prst="roundRect">
            <a:avLst>
              <a:gd name="adj" fmla="val 16667"/>
            </a:avLst>
          </a:prstGeom>
          <a:solidFill>
            <a:srgbClr val="FF8A5B">
              <a:alpha val="2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84048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33"/>
                </a:solidFill>
              </a:rPr>
              <a:t>Pertanyaan pemandu: apa yang berubah ketika nilainya diubah, dan mengapa hal itu terjadi?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XII.2 · Implementasi Algoritma Standar dan Kualitas Kode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Pengukuran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Mengukur kinerja program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Catat waktu mulai dan selesai untuk data berukuran berbeda.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Bandingkan pertumbuhan waktu, bukan satu angka tunggal.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Pengukuran dipengaruhi perangkat; jalankan beberapa kali lalu ambil rerata.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XII.2 · Implementasi Algoritma Standar dan Kualitas Kode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5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3D1452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502920"/>
            <a:ext cx="2011680" cy="2011680"/>
          </a:xfrm>
          <a:prstGeom prst="ellipse">
            <a:avLst/>
          </a:prstGeom>
          <a:solidFill>
            <a:srgbClr val="FF8A5B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82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F8A5B"/>
                </a:solidFill>
              </a:rPr>
              <a:t>SIMULASI INTERAKTIF  ·  MENGAPLIKASI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572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Pencarian Berurutan vs Biner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801014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00200"/>
            <a:ext cx="7406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A4060"/>
                </a:solidFill>
              </a:rPr>
              <a:t>Buka aplikasi media pembelajaran, masuk ke pertemuan XII.2, lalu pilih salindia bertanda 🧪 — atau buka menu Simulasi dan pilih "Pencarian Berurutan vs Biner".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6A7090"/>
                </a:solidFill>
              </a:rPr>
              <a:t>Dikaitkan dengan materi: Mengukur kinerja program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Langkah murid: amati → ubah nilainya → catat yang berubah → simpulkan bersama kelompok.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840480"/>
            <a:ext cx="8010144" cy="658368"/>
          </a:xfrm>
          <a:prstGeom prst="roundRect">
            <a:avLst>
              <a:gd name="adj" fmla="val 16667"/>
            </a:avLst>
          </a:prstGeom>
          <a:solidFill>
            <a:srgbClr val="FF8A5B">
              <a:alpha val="2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84048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33"/>
                </a:solidFill>
              </a:rPr>
              <a:t>Pertanyaan pemandu: apa yang berubah ketika nilainya diubah, dan mengapa hal itu terjadi?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XII.2 · Implementasi Algoritma Standar dan Kualitas Kode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Tinjauan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Code review sejawat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Tinjau kode teman dengan fokus pada keterbacaan dan kebenaran, bukan selera pribadi.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Berikan komentar spesifik dan sopan, sertakan usulan perbaikan.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Tinjauan sejawat menemukan kesalahan yang tidak terlihat oleh penulisnya.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XII.2 · Implementasi Algoritma Standar dan Kualitas Kode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Refleksi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Mari kita refleksikan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Apa hal baru yang saya pahami pada pertemuan ini?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Bagian mana yang masih membingungkan bagi saya?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Apa yang akan saya lakukan untuk memperbaikinya?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Di mana konsep ini dapat saya pakai di kehidupan sehari-hari?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XII.2 · Implementasi Algoritma Standar dan Kualitas Kode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3D1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8338A8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FF8A5B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8A5B"/>
                </a:solidFill>
              </a:rPr>
              <a:t>XII.3 · Ganjil · 10 JP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0584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Pemeliharaan dan Penyempurnaan Program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69748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6FB"/>
                </a:solidFill>
              </a:rPr>
              <a:t>Jenis kesalahan, debugging, pengujian, refactoring, dokumentasi, dan pengelolaan versi.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886200"/>
            <a:ext cx="2199132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8A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886200"/>
            <a:ext cx="2199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Algoritma dan Pemrograman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94076" y="3886200"/>
            <a:ext cx="644652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8A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94076" y="3886200"/>
            <a:ext cx="644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 JP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BAE8"/>
                </a:solidFill>
              </a:rPr>
              <a:t>Mutmainnah Syam, S.Pd., M.Pd.  ·  SMA Negeri 11 Pinrang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Pemantik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Kemarin jalan, hari ini gagal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Program yang hidup selalu berubah: data bertambah, kebutuhan bergeser, perangkat diperbarui.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Kemampuan memperbaiki sama pentingnya dengan kemampuan membuat.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XII.3 · Pemeliharaan dan Penyempurnaan Program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Kesalahan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Tiga jenis kesalahan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Sintaksis — aturan penulisan dilanggar; ditolak sebelum program jalan.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Runtime — muncul saat dijalankan, misalnya pembagian dengan nol.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Logika — program berjalan tetapi hasilnya salah; paling sulit ditemukan.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XII.3 · Pemeliharaan dan Penyempurnaan Program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Debugging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Menelusuri kesalahan secara sistematis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1. Tirukan kesalahan dengan langkah yang pasti.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2. Persempit wilayah kode yang dicurigai.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3. Periksa nilai variabel di titik-titik kunci.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4. Perbaiki satu hal saja, lalu uji ulang.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5. Catat penyebab dan solusinya agar tidak terulang.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XII.3 · Pemeliharaan dan Penyempurnaan Program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5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3D1452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502920"/>
            <a:ext cx="2011680" cy="2011680"/>
          </a:xfrm>
          <a:prstGeom prst="ellipse">
            <a:avLst/>
          </a:prstGeom>
          <a:solidFill>
            <a:srgbClr val="FF8A5B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82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F8A5B"/>
                </a:solidFill>
              </a:rPr>
              <a:t>SIMULASI INTERAKTIF  ·  MENGAPLIKASI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572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Penelusuran Pseudocode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801014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00200"/>
            <a:ext cx="7406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A4060"/>
                </a:solidFill>
              </a:rPr>
              <a:t>Buka aplikasi media pembelajaran, masuk ke pertemuan XII.3, lalu pilih salindia bertanda 🧪 — atau buka menu Simulasi dan pilih "Penelusuran Pseudocode".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6A7090"/>
                </a:solidFill>
              </a:rPr>
              <a:t>Dikaitkan dengan materi: Menelusuri kesalahan secara sistematis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Langkah murid: amati → ubah nilainya → catat yang berubah → simpulkan bersama kelompok.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840480"/>
            <a:ext cx="8010144" cy="658368"/>
          </a:xfrm>
          <a:prstGeom prst="roundRect">
            <a:avLst>
              <a:gd name="adj" fmla="val 16667"/>
            </a:avLst>
          </a:prstGeom>
          <a:solidFill>
            <a:srgbClr val="FF8A5B">
              <a:alpha val="2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84048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33"/>
                </a:solidFill>
              </a:rPr>
              <a:t>Pertanyaan pemandu: apa yang berubah ketika nilainya diubah, dan mengapa hal itu terjadi?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XII.3 · Pemeliharaan dan Penyempurnaan Program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Pengujian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Merancang kasus uji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Kasus normal, kasus batas (0, 1, nilai maksimum), dan kasus tidak wajar (huruf pada isian angka).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Tuliskan hasil yang diharapkan sebelum menjalankan program.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Uji regresi: jalankan semua kasus uji setiap kali kode diubah.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XII.3 · Pemeliharaan dan Penyempurnaan Program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Refactoring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Merapikan tanpa mengubah perilaku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Ganti nama yang membingungkan, pecah fungsi panjang, hilangkan kode kembar.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Lakukan dalam langkah kecil dan uji setiap selesai satu langkah.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Refactoring bukan menambah fitur; perilaku program harus tetap sama.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XII.3 · Pemeliharaan dan Penyempurnaan Program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5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3D1452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502920"/>
            <a:ext cx="2011680" cy="2011680"/>
          </a:xfrm>
          <a:prstGeom prst="ellipse">
            <a:avLst/>
          </a:prstGeom>
          <a:solidFill>
            <a:srgbClr val="FF8A5B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82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F8A5B"/>
                </a:solidFill>
              </a:rPr>
              <a:t>SIMULASI INTERAKTIF  ·  MENGAPLIKASI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572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Tinjauan Kualitas Kode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801014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00200"/>
            <a:ext cx="7406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A4060"/>
                </a:solidFill>
              </a:rPr>
              <a:t>Buka aplikasi media pembelajaran, masuk ke pertemuan XII.3, lalu pilih salindia bertanda 🧪 — atau buka menu Simulasi dan pilih "Tinjauan Kualitas Kode".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6A7090"/>
                </a:solidFill>
              </a:rPr>
              <a:t>Dikaitkan dengan materi: Merapikan tanpa mengubah perilaku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Langkah murid: amati → ubah nilainya → catat yang berubah → simpulkan bersama kelompok.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840480"/>
            <a:ext cx="8010144" cy="658368"/>
          </a:xfrm>
          <a:prstGeom prst="roundRect">
            <a:avLst>
              <a:gd name="adj" fmla="val 16667"/>
            </a:avLst>
          </a:prstGeom>
          <a:solidFill>
            <a:srgbClr val="FF8A5B">
              <a:alpha val="2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84048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33"/>
                </a:solidFill>
              </a:rPr>
              <a:t>Pertanyaan pemandu: apa yang berubah ketika nilainya diubah, dan mengapa hal itu terjadi?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XII.3 · Pemeliharaan dan Penyempurnaan Program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Dokumentasi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Dokumentasi dan pengelolaan versi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README menjelaskan tujuan, cara memasang, dan cara menjalankan program.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Komentar untuk bagian yang keputusannya tidak jelas.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Pengelolaan versi (misalnya Git) menyimpan riwayat perubahan dan memudahkan kerja tim.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Pesan perubahan yang baik menjelaskan apa dan mengapa, bukan sekadar 'perbaikan'.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XII.3 · Pemeliharaan dan Penyempurnaan Program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Refleksi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Mari kita refleksikan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Apa hal baru yang saya pahami pada pertemuan ini?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Bagian mana yang masih membingungkan bagi saya?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Apa yang akan saya lakukan untuk memperbaikinya?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Di mana konsep ini dapat saya pakai di kehidupan sehari-hari?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XII.3 · Pemeliharaan dan Penyempurnaan Program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3D1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8338A8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FF8A5B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8A5B"/>
                </a:solidFill>
              </a:rPr>
              <a:t>XII.4 · Genap · 10 JP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0584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Struktur Data Kompleks dan Pemanfaatan Library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69748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6FB"/>
                </a:solidFill>
              </a:rPr>
              <a:t>Menerapkan struktur data kompleks pada program nyata dan memakai pustaka secara tepat.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886200"/>
            <a:ext cx="2199132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8A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886200"/>
            <a:ext cx="2199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Algoritma dan Pemrograman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94076" y="3886200"/>
            <a:ext cx="644652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8A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94076" y="3886200"/>
            <a:ext cx="644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 JP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BAE8"/>
                </a:solidFill>
              </a:rPr>
              <a:t>Mutmainnah Syam, S.Pd., M.Pd.  ·  SMA Negeri 11 Pinrang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Penerapan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Struktur data di dalam program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Pilih struktur sesuai operasi yang paling sering dilakukan program.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Sering mencari berdasarkan kunci → tabel hash atau kamus bawaan bahasa.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Data berjenjang → pohon; relasi antarobjek → graf.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Ukur dampaknya: catat waktu sebelum dan sesudah penggantian struktur data.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XII.4 · Struktur Data Kompleks dan Pemanfaatan Library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5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3D1452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502920"/>
            <a:ext cx="2011680" cy="2011680"/>
          </a:xfrm>
          <a:prstGeom prst="ellipse">
            <a:avLst/>
          </a:prstGeom>
          <a:solidFill>
            <a:srgbClr val="FF8A5B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82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F8A5B"/>
                </a:solidFill>
              </a:rPr>
              <a:t>SIMULASI INTERAKTIF  ·  MENGAPLIKASI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572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Penelusuran Graf BFS dan DFS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801014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00200"/>
            <a:ext cx="7406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A4060"/>
                </a:solidFill>
              </a:rPr>
              <a:t>Buka aplikasi media pembelajaran, masuk ke pertemuan XII.4, lalu pilih salindia bertanda 🧪 — atau buka menu Simulasi dan pilih "Penelusuran Graf BFS dan DFS".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6A7090"/>
                </a:solidFill>
              </a:rPr>
              <a:t>Dikaitkan dengan materi: Struktur data di dalam program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Langkah murid: amati → ubah nilainya → catat yang berubah → simpulkan bersama kelompok.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840480"/>
            <a:ext cx="8010144" cy="658368"/>
          </a:xfrm>
          <a:prstGeom prst="roundRect">
            <a:avLst>
              <a:gd name="adj" fmla="val 16667"/>
            </a:avLst>
          </a:prstGeom>
          <a:solidFill>
            <a:srgbClr val="FF8A5B">
              <a:alpha val="2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84048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33"/>
                </a:solidFill>
              </a:rPr>
              <a:t>Pertanyaan pemandu: apa yang berubah ketika nilainya diubah, dan mengapa hal itu terjadi?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XII.4 · Struktur Data Kompleks dan Pemanfaatan Library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Library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Mengapa tidak membuat semuanya sendiri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Pustaka yang matang sudah diuji banyak orang dan jarang mengandung kesalahan mendasar.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Menghemat waktu sehingga fokus pada persoalan yang benar-benar khas.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Tetapi: pahami cara kerjanya, jangan jadi pengguna buta.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XII.4 · Struktur Data Kompleks dan Pemanfaatan Library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Kriteria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Memilih pustaka dengan bijak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Periksa lisensinya; pastikan boleh dipakai untuk keperluan sekolah atau komersial.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Lihat kapan terakhir diperbarui dan seberapa aktif pengembangnya.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Baca dokumentasi resmi dan contoh penggunaannya.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Perhatikan keamanan; pustaka usang bisa membawa celah.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XII.4 · Struktur Data Kompleks dan Pemanfaatan Library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Etika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Atribusi dan tanggung jawab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Cantumkan pustaka yang dipakai beserta lisensinya di berkas dokumentasi.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Kode salinan dari internet wajib dipahami, diuji, dan dicantumkan sumbernya.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Kamu tetap bertanggung jawab atas program yang kamu rilis.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XII.4 · Struktur Data Kompleks dan Pemanfaatan Library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Refleksi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Mari kita refleksikan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Apa hal baru yang saya pahami pada pertemuan ini?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Bagian mana yang masih membingungkan bagi saya?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Apa yang akan saya lakukan untuk memperbaikinya?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Di mana konsep ini dapat saya pakai di kehidupan sehari-hari?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XII.4 · Struktur Data Kompleks dan Pemanfaatan Library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3D1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8338A8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FF8A5B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8A5B"/>
                </a:solidFill>
              </a:rPr>
              <a:t>XII.5 · Genap · 6 JP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0584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Perancangan Kebutuhan Sistem Komputer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69748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6FB"/>
                </a:solidFill>
              </a:rPr>
              <a:t>Menentukan spesifikasi perangkat keras dan lunak sesuai kebutuhan pengguna dan anggaran.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886200"/>
            <a:ext cx="1499616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8A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886200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Literasi Digital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94560" y="3886200"/>
            <a:ext cx="566928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8A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94560" y="388620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 JP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BAE8"/>
                </a:solidFill>
              </a:rPr>
              <a:t>Mutmainnah Syam, S.Pd., M.Pd.  ·  SMA Negeri 11 Pinrang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Pemantik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Termahal belum tentu tepat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Komputer untuk tata usaha dan untuk studio desain punya kebutuhan sangat berbeda.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Tugas kita: menyesuaikan spesifikasi dengan pekerjaan nyata dan anggaran.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XII.5 · Perancangan Kebutuhan Sistem Komputer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Analisis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Memahami beban kerja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Pekerjaan ringan: dokumen, lembar kerja, peramban.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Menengah: pengolahan data besar, pemrograman, penyuntingan gambar.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Berat: penyuntingan video, pemodelan 3D, pelatihan model kecerdasan artifisial.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Tanyakan aplikasi yang dipakai, ukuran berkas, dan berapa lama perangkat dipakai per hari.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XII.5 · Perancangan Kebutuhan Sistem Komputer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Spesifikasi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Komponen yang menentukan kinerja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Prosesor: jumlah inti dan kecepatan; menentukan kemampuan menghitung.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RAM: menentukan berapa banyak pekerjaan dapat berjalan bersamaan.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Penyimpanan: SSD jauh lebih responsif daripada HDD.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Kartu grafis: penting untuk grafis, video, dan komputasi paralel.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Perangkat lunak: sistem operasi dan aplikasi, termasuk legalitas lisensinya.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XII.5 · Perancangan Kebutuhan Sistem Komputer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4F5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3D1452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502920"/>
            <a:ext cx="2011680" cy="2011680"/>
          </a:xfrm>
          <a:prstGeom prst="ellipse">
            <a:avLst/>
          </a:prstGeom>
          <a:solidFill>
            <a:srgbClr val="FF8A5B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82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F8A5B"/>
                </a:solidFill>
              </a:rPr>
              <a:t>SIMULASI INTERAKTIF  ·  MENGAPLIKASI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572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Perancang Spesifikasi Komputer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801014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00200"/>
            <a:ext cx="7406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A4060"/>
                </a:solidFill>
              </a:rPr>
              <a:t>Buka aplikasi media pembelajaran, masuk ke pertemuan XII.5, lalu pilih salindia bertanda 🧪 — atau buka menu Simulasi dan pilih "Perancang Spesifikasi Komputer".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6A7090"/>
                </a:solidFill>
              </a:rPr>
              <a:t>Dikaitkan dengan materi: Komponen yang menentukan kinerja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Langkah murid: amati → ubah nilainya → catat yang berubah → simpulkan bersama kelompok.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840480"/>
            <a:ext cx="8010144" cy="658368"/>
          </a:xfrm>
          <a:prstGeom prst="roundRect">
            <a:avLst>
              <a:gd name="adj" fmla="val 16667"/>
            </a:avLst>
          </a:prstGeom>
          <a:solidFill>
            <a:srgbClr val="FF8A5B">
              <a:alpha val="2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84048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33"/>
                </a:solidFill>
              </a:rPr>
              <a:t>Pertanyaan pemandu: apa yang berubah ketika nilainya diubah, dan mengapa hal itu terjadi?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XII.5 · Perancangan Kebutuhan Sistem Komputer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Anggaran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Menyusun usulan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Buat dua alternatif: kebutuhan minimum dan kebutuhan ideal.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Hitung total biaya termasuk perangkat pendukung, lisensi, dan garansi.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Pertimbangkan daya tahan 3–5 tahun ke depan, bukan hanya hari ini.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Sajikan dalam dokumen rancangan yang ringkas dan mudah dipahami pimpinan.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XII.5 · Perancangan Kebutuhan Sistem Komputer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Refleksi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Mari kita refleksikan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Apa hal baru yang saya pahami pada pertemuan ini?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Bagian mana yang masih membingungkan bagi saya?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Apa yang akan saya lakukan untuk memperbaikinya?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Di mana konsep ini dapat saya pakai di kehidupan sehari-hari?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XII.5 · Perancangan Kebutuhan Sistem Komputer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3D1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206240" cy="4206240"/>
          </a:xfrm>
          <a:prstGeom prst="ellipse">
            <a:avLst/>
          </a:prstGeom>
          <a:solidFill>
            <a:srgbClr val="8338A8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91840"/>
            <a:ext cx="2926080" cy="2926080"/>
          </a:xfrm>
          <a:prstGeom prst="ellipse">
            <a:avLst/>
          </a:prstGeom>
          <a:solidFill>
            <a:srgbClr val="FF8A5B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76656"/>
            <a:ext cx="475488" cy="64008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530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8A5B"/>
                </a:solidFill>
              </a:rPr>
              <a:t>XII.6 · Genap · 20 JP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0584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Hukum Digital, Demokrasi Digital, Transaksi Digital, dan Projek Akhir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69748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6FB"/>
                </a:solidFill>
              </a:rPr>
              <a:t>Hak dan kewajiban warga digital, partisipasi publik, transaksi aman, dan karya akhir.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886200"/>
            <a:ext cx="3108960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8A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8862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Literasi Digital serta Algoritma dan Pem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03904" y="3886200"/>
            <a:ext cx="644652" cy="384048"/>
          </a:xfrm>
          <a:prstGeom prst="roundRect">
            <a:avLst>
              <a:gd name="adj" fmla="val 47619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8A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03904" y="3886200"/>
            <a:ext cx="644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20 JP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BAE8"/>
                </a:solidFill>
              </a:rPr>
              <a:t>Mutmainnah Syam, S.Pd., M.Pd.  ·  SMA Negeri 11 Pinrang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Hukum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Aturan dunia digital di Indonesia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Undang-undang tentang informasi dan transaksi elektronik mengatur konten, penghinaan, penipuan, dan akses ilegal.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Undang-undang pelindungan data pribadi mengatur pengumpulan dan penggunaan data orang lain.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Undang-undang hak cipta melindungi karya tulis, musik, gambar, dan perangkat lunak.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Yang kita unggah dan sebarkan dapat dimintai pertanggungjawaban secara hukum.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XII.6 · Hukum Digital, Demokrasi Digital, Transaksi Digital, dan Projek Akhir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Etika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Batas perilaku digital yang aman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Jangan menyebar data pribadi orang lain tanpa izin (doxing).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Jangan mengunggah tuduhan tanpa bukti; gunakan jalur pengaduan resmi.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Jangan masuk ke akun atau sistem milik orang lain, meski 'hanya iseng'.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Hormati karya orang lain: minta izin dan cantumkan sumber.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XII.6 · Hukum Digital, Demokrasi Digital, Transaksi Digital, dan Projek Akhir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Demokrasi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Teknologi dan partisipasi publik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Kanal aspirasi daring, keterbukaan data anggaran, dan layanan publik digital.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Manfaat: partisipasi lebih luas, pengawasan lebih mudah, informasi lebih cepat.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Risiko: hoaks politik, gelembung informasi, manipulasi opini oleh akun otomatis.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Sikap kita: verifikasi sebelum percaya, berdebat dengan argumen, bukan hinaan.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XII.6 · Hukum Digital, Demokrasi Digital, Transaksi Digital, dan Projek Akhir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Transaksi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Berbelanja dan bertransaksi dengan aman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Pastikan situs resmi dan menggunakan HTTPS; waspadai alamat yang mirip.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Jangan pernah membagikan OTP kepada siapa pun, termasuk yang mengaku petugas.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Gunakan rekening bersama pada loka pasar dan simpan bukti transaksi.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Periksa mutasi secara berkala dan aktifkan notifikasi transaksi.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Ciri penipuan: mendesak, hadiah mendadak, harga jauh di bawah pasar, dan tautan asing.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XII.6 · Hukum Digital, Demokrasi Digital, Transaksi Digital, dan Projek Akhir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4F5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3D1452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502920"/>
            <a:ext cx="2011680" cy="2011680"/>
          </a:xfrm>
          <a:prstGeom prst="ellipse">
            <a:avLst/>
          </a:prstGeom>
          <a:solidFill>
            <a:srgbClr val="FF8A5B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82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F8A5B"/>
                </a:solidFill>
              </a:rPr>
              <a:t>SIMULASI INTERAKTIF  ·  MENGAPLIKASI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572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Keamanan Kata Sandi dan 2FA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801014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00200"/>
            <a:ext cx="7406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A4060"/>
                </a:solidFill>
              </a:rPr>
              <a:t>Buka aplikasi media pembelajaran, masuk ke pertemuan XII.6, lalu pilih salindia bertanda 🧪 — atau buka menu Simulasi dan pilih "Keamanan Kata Sandi dan 2FA".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6A7090"/>
                </a:solidFill>
              </a:rPr>
              <a:t>Dikaitkan dengan materi: Berbelanja dan bertransaksi dengan aman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Langkah murid: amati → ubah nilainya → catat yang berubah → simpulkan bersama kelompok.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840480"/>
            <a:ext cx="8010144" cy="658368"/>
          </a:xfrm>
          <a:prstGeom prst="roundRect">
            <a:avLst>
              <a:gd name="adj" fmla="val 16667"/>
            </a:avLst>
          </a:prstGeom>
          <a:solidFill>
            <a:srgbClr val="FF8A5B">
              <a:alpha val="2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84048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33"/>
                </a:solidFill>
              </a:rPr>
              <a:t>Pertanyaan pemandu: apa yang berubah ketika nilainya diubah, dan mengapa hal itu terjadi?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XII.6 · Hukum Digital, Demokrasi Digital, Transaksi Digital, dan Projek Akhir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Projek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Projek akhir: karya digital untuk masyarakat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Pilih persoalan nyata di sekolah atau Kabupaten Pinrang.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Tahap: analisis kebutuhan → rancangan → pembuatan → pengujian bersama pengguna → gelar karya.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Produk dapat berupa aplikasi, situs, sistem pendataan, atau konten edukasi digital.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Penilaian: perencanaan 20%, pelaksanaan 30%, produk 30%, komunikasi hasil 20%.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XII.6 · Hukum Digital, Demokrasi Digital, Transaksi Digital, dan Projek Akhir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4F5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3D1452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502920"/>
            <a:ext cx="2011680" cy="2011680"/>
          </a:xfrm>
          <a:prstGeom prst="ellipse">
            <a:avLst/>
          </a:prstGeom>
          <a:solidFill>
            <a:srgbClr val="FF8A5B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82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F8A5B"/>
                </a:solidFill>
              </a:rPr>
              <a:t>SIMULASI INTERAKTIF  ·  MENGAPLIKASI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572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Perencana Projek Akhir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801014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0E3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00200"/>
            <a:ext cx="7406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A4060"/>
                </a:solidFill>
              </a:rPr>
              <a:t>Buka aplikasi media pembelajaran, masuk ke pertemuan XII.6, lalu pilih salindia bertanda 🧪 — atau buka menu Simulasi dan pilih "Perencana Projek Akhir".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6A7090"/>
                </a:solidFill>
              </a:rPr>
              <a:t>Dikaitkan dengan materi: Projek akhir: karya digital untuk masyarakat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3A4060"/>
                </a:solidFill>
              </a:rPr>
              <a:t>Langkah murid: amati → ubah nilainya → catat yang berubah → simpulkan bersama kelompok.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840480"/>
            <a:ext cx="8010144" cy="658368"/>
          </a:xfrm>
          <a:prstGeom prst="roundRect">
            <a:avLst>
              <a:gd name="adj" fmla="val 16667"/>
            </a:avLst>
          </a:prstGeom>
          <a:solidFill>
            <a:srgbClr val="FF8A5B">
              <a:alpha val="2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84048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33"/>
                </a:solidFill>
              </a:rPr>
              <a:t>Pertanyaan pemandu: apa yang berubah ketika nilainya diubah, dan mengapa hal itu terjadi?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XII.6 · Hukum Digital, Demokrasi Digital, Transaksi Digital, dan Projek Akhir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Penutup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Setelah lulus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Teruslah belajar; teknologi berubah, cara berpikir komputasional tetap berguna.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Bangun portofolio karya digital sejak sekarang.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Jadilah warga digital yang aman, beretika, dan bermanfaat bagi sekitar.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XII.6 · Hukum Digital, Demokrasi Digital, Transaksi Digital, dan Projek Akhir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143500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822960"/>
            <a:ext cx="2377440" cy="2377440"/>
          </a:xfrm>
          <a:prstGeom prst="ellipse">
            <a:avLst/>
          </a:prstGeom>
          <a:solidFill>
            <a:srgbClr val="FF8A5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75488"/>
            <a:ext cx="384048" cy="54864"/>
          </a:xfrm>
          <a:prstGeom prst="rect">
            <a:avLst/>
          </a:prstGeom>
          <a:solidFill>
            <a:srgbClr val="8338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338A8"/>
                </a:solidFill>
              </a:rPr>
              <a:t>Refleksi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9494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33"/>
                </a:solidFill>
              </a:rPr>
              <a:t>Mari kita refleksikan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Apa hal baru yang saya pahami pada pertemuan ini?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Bagian mana yang masih membingungkan bagi saya?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Apa yang akan saya lakukan untuk memperbaikinya?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50" dirty="0">
                <a:solidFill>
                  <a:srgbClr val="3A4060"/>
                </a:solidFill>
              </a:rPr>
              <a:t>Di mana konsep ini dapat saya pakai di kehidupan sehari-hari?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4645152"/>
            <a:ext cx="8010144" cy="10973"/>
          </a:xfrm>
          <a:prstGeom prst="rect">
            <a:avLst/>
          </a:prstGeom>
          <a:solidFill>
            <a:srgbClr val="E0E3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7000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XII.6 · Hukum Digital, Demokrasi Digital, Transaksi Digital, dan Projek Akhir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700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AE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>SMA Negeri 11 Pinrang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Informatika Kelas XII — SMA Negeri 11 Pinrang</dc:title>
  <dc:subject>PptxGenJS Presentation</dc:subject>
  <dc:creator>Mutmainnah Syam, S.Pd., M.Pd.</dc:creator>
  <cp:lastModifiedBy>Mutmainnah Syam, S.Pd., M.Pd.</cp:lastModifiedBy>
  <cp:revision>1</cp:revision>
  <dcterms:created xsi:type="dcterms:W3CDTF">2026-10-03T15:18:08Z</dcterms:created>
  <dcterms:modified xsi:type="dcterms:W3CDTF">2026-10-03T15:18:08Z</dcterms:modified>
</cp:coreProperties>
</file>