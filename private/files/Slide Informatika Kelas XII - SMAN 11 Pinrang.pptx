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</p:sldIdLst>
  <p:notesMasterIdLst>
    <p:notesMasterId r:id="rId10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notesMaster" Target="notesMasters/notesMaster1.xml"/><Relationship Id="rId106" Type="http://schemas.openxmlformats.org/officeDocument/2006/relationships/presProps" Target="presProps.xml"/><Relationship Id="rId107" Type="http://schemas.openxmlformats.org/officeDocument/2006/relationships/viewProps" Target="viewProps.xml"/><Relationship Id="rId108" Type="http://schemas.openxmlformats.org/officeDocument/2006/relationships/theme" Target="theme/theme1.xml"/><Relationship Id="rId10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Sapa murid, cek kesiapan belajar.
Tujuan pembelajaran:
- XII.AP.1 Memahami dan memilih strategi algoritmik yang tepat.
- XII.AP.2 Mengembangkan program terstruktur dari notasi algoritma.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Murid mencoba simulasi; guru berkeliling memberi umpan balik.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Pertanyaan jeda untuk mengecek fokus dan pemahaman murid.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Murid mencoba simulasi; guru berkeliling memberi umpan balik.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Pertanyaan jeda untuk mengecek fokus dan pemahaman murid.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Pertanyaan jeda untuk mengecek fokus dan pemahaman murid.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Bacakan langkahnya, pastikan tiap kelompok tahu produk yang dikumpulkan.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Kunci jawaban: 1. B  ·  2. B  ·  3. A
Versi interaktifnya tersedia di aplikasi: murid menjawab dan langsung mendapat umpan balik.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Sapa murid, cek kesiapan belajar.
Tujuan pembelajaran:
- XII.AP.3 Mengembangkan algoritma standar ke kode sumber dengan memperhatikan kualitas.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Murid mencoba simulasi; guru berkeliling memberi umpan balik.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Murid mencoba simulasi; guru berkeliling memberi umpan balik.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Murid mencoba simulasi; guru berkeliling memberi umpan balik.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Pertanyaan jeda untuk mengecek fokus dan pemahaman murid.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Pertanyaan jeda untuk mengecek fokus dan pemahaman murid.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Pertanyaan jeda untuk mengecek fokus dan pemahaman murid.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Bacakan langkahnya, pastikan tiap kelompok tahu produk yang dikumpulkan.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Kunci jawaban: 1. B  ·  2. B  ·  3. B
Versi interaktifnya tersedia di aplikasi: murid menjawab dan langsung mendapat umpan balik.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Sapa murid, cek kesiapan belajar.
Tujuan pembelajaran:
- XII.AP.4 Memelihara dan menyempurnakan program melalui pengujian, penelusuran kesalahan, perapian kode, dan dokumentasi.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Pertanyaan jeda untuk mengecek fokus dan pemahaman murid.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Murid mencoba simulasi; guru berkeliling memberi umpan balik.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Murid mencoba simulasi; guru berkeliling memberi umpan balik.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Pertanyaan jeda untuk mengecek fokus dan pemahaman murid.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Pertanyaan jeda untuk mengecek fokus dan pemahaman murid.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Bacakan langkahnya, pastikan tiap kelompok tahu produk yang dikumpulkan.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Kunci jawaban: 1. B  ·  2. B  ·  3. B
Versi interaktifnya tersedia di aplikasi: murid menjawab dan langsung mendapat umpan balik.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Sapa murid, cek kesiapan belajar.
Tujuan pembelajaran:
- XII.AP.5 Mengimplementasikan program dengan struktur data kompleks.
- XII.AP.6 Memanfaatkan library secara tepat.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Murid mencoba simulasi; guru berkeliling memberi umpan balik.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Pertanyaan jeda untuk mengecek fokus dan pemahaman murid.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Pertanyaan jeda untuk mengecek fokus dan pemahaman murid.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Pertanyaan jeda untuk mengecek fokus dan pemahaman murid.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Bacakan langkahnya, pastikan tiap kelompok tahu produk yang dikumpulkan.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Kunci jawaban: 1. B  ·  2. B  ·  3. A
Versi interaktifnya tersedia di aplikasi: murid menjawab dan langsung mendapat umpan balik.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Sapa murid, cek kesiapan belajar.
Tujuan pembelajaran:
- XII.LD.1 Merancang kebutuhan sistem komputer sesuai kebutuhan pengguna.
- XII.LD.2 Mengkreasi konten digital dengan peralatan dan metode bervariasi.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Pertanyaan jeda untuk mengecek fokus dan pemahaman murid.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Murid mencoba simulasi; guru berkeliling memberi umpan balik.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Pertanyaan jeda untuk mengecek fokus dan pemahaman murid.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Pertanyaan jeda untuk mengecek fokus dan pemahaman murid.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Bacakan langkahnya, pastikan tiap kelompok tahu produk yang dikumpulkan.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Kunci jawaban: 1. A  ·  2. B  ·  3. B
Versi interaktifnya tersedia di aplikasi: murid menjawab dan langsung mendapat umpan balik.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Sapa murid, cek kesiapan belajar.
Tujuan pembelajaran:
- XII.LD.3 Memahami hukum dan perundang-undangan isu digital.
- XII.LD.4 Memahami pemanfaatan teknologi digital dalam demokrasi.
- XII.LD.5 Menerapkan keamanan akun lanjut.
- XII.LD.6 Memahami loka pasar, perbankan, dan dompet digital beserta keamanannya.
- XII.AP.5 Merancang dan mengimplementasikan karya digital solusi persoalan nyata.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Pertanyaan jeda untuk mengecek fokus dan pemahaman murid.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Murid mencoba simulasi; guru berkeliling memberi umpan balik.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Murid mencoba simulasi; guru berkeliling memberi umpan balik.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Pertanyaan jeda untuk mengecek fokus dan pemahaman murid.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Pertanyaan jeda untuk mengecek fokus dan pemahaman murid.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Bacakan langkahnya, pastikan tiap kelompok tahu produk yang dikumpulkan.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Kunci jawaban: 1. A  ·  2. B  ·  3. A
Versi interaktifnya tersedia di aplikasi: murid menjawab dan langsung mendapat umpan balik.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1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8338A8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FF8A5B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FF8A5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8A5B"/>
                </a:solidFill>
              </a:rPr>
              <a:t>INFORMATIKA · FASE F · T.P. 2026/2027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005840"/>
            <a:ext cx="7589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Slide Pembelajaran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Kelas XII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65176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6FB"/>
                </a:solidFill>
              </a:rPr>
              <a:t>6 pertemuan · 72 JP · setiap pertemuan lengkap: pembuka, isi, aktivitas, kuis, dan refleksi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3886200"/>
            <a:ext cx="1906524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8A5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3886200"/>
            <a:ext cx="19065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SMA Negeri 11 Pinrang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01468" y="3886200"/>
            <a:ext cx="1595628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8A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01468" y="3886200"/>
            <a:ext cx="15956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Kurikulum Merdeka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25112" y="3886200"/>
            <a:ext cx="818388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8A5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25112" y="3886200"/>
            <a:ext cx="8183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CP 2025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BAE8"/>
                </a:solidFill>
              </a:rPr>
              <a:t>Mutmainnah Syam, S.Pd., M.Pd.  ·  NIP 19930321 202421 2 034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D1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8338A8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FF8A5B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FF8A5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8A5B"/>
                </a:solidFill>
              </a:rPr>
              <a:t>XII.1 · Ganjil · 16 JP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005840"/>
            <a:ext cx="7589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Strategi Algoritmik dan Pengembangan Program Terstruktur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56032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6FB"/>
                </a:solidFill>
              </a:rPr>
              <a:t>Halo, selamat datang di kelas Informatika! Semoga hari ini kita belajar dengan gembira dan pulang membawa satu kemampuan baru.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3886200"/>
            <a:ext cx="2217420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8A5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3886200"/>
            <a:ext cx="22174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Algoritma dan Pemrograman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12364" y="3886200"/>
            <a:ext cx="662940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8A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12364" y="3886200"/>
            <a:ext cx="6629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16 JP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BAE8"/>
                </a:solidFill>
              </a:rPr>
              <a:t>Mutmainnah Syam, S.Pd., M.Pd.  ·  SMA Negeri 11 Pinrang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PEMBUKA · TUJUAN PEMBELAJARAN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Di akhir pertemuan ini kamu akan mampu…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Memahami dan memilih strategi algoritmik yang tepat.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Mengembangkan program terstruktur dari notasi algoritma.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41605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338A8"/>
                </a:solidFill>
              </a:rPr>
              <a:t>Alokasi 16 JP  ·  Elemen: Algoritma dan Pemrograman  ·  Kriteria ketuntasan 75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XII.1 · Strategi Algoritmik dan Pengembangan Program Terstruktur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PEMBUKA · APERSEPSI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Menyambung perjalanan belajar kita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6928" y="16459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7556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338A8"/>
                </a:solidFill>
              </a:rPr>
              <a:t>Pertemuan lalu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0299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Ini pertemuan pertama pada fase ini — kita mulai dari pengalaman kalian sehari-hari dengan teknologi.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18304" y="16459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01184" y="17556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338A8"/>
                </a:solidFill>
              </a:rPr>
              <a:t>Hari ini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901184" y="20299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Strategi Algoritmik dan Pengembangan Program Terstruktur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0175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31272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338A8"/>
                </a:solidFill>
              </a:rPr>
              <a:t>Pertanyaan pembuka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34015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Apa yang masih kamu ingat dari pertemuan sebelumnya?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18304" y="30175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01184" y="31272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338A8"/>
                </a:solidFill>
              </a:rPr>
              <a:t>Mengapa penting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901184" y="34015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Dari pemilihan strategi, notasi algoritma, sampai program modular yang rapi.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XII.1 · Strategi Algoritmik dan Pengembangan Program Terstruktur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Pemantik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Program panjang yang sulit diperbaiki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Program 500 baris dalam satu fungsi hampir mustahil ditelusuri.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Program yang baik adalah penerjemahan setia dari algoritma yang dipilih secara sadar.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XII.1 · Strategi Algoritmik dan Pengembangan Program Terstruktur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Strategi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Memilih strategi sebelum mengetik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Pahami persoalan: masukan, keluaran, dan batasan ukuran data.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Pilih strategi: brute force untuk data kecil, greedy bila pilihan lokal terbukti optimal, divide and conquer bila persoalan dapat dipecah.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Tuliskan algoritma lebih dahulu dalam notasi, baru diterjemahkan ke kode.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XII.1 · Strategi Algoritmik dan Pengembangan Program Terstruktur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3D1452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-502920"/>
            <a:ext cx="2011680" cy="2011680"/>
          </a:xfrm>
          <a:prstGeom prst="ellipse">
            <a:avLst/>
          </a:prstGeom>
          <a:solidFill>
            <a:srgbClr val="FF8A5B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828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F8A5B"/>
                </a:solidFill>
              </a:rPr>
              <a:t>SIMULASI INTERAKTIF · MENGAPLIKASI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572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Brute Force vs Greedy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8010144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600200"/>
            <a:ext cx="7406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A4060"/>
                </a:solidFill>
              </a:rPr>
              <a:t>Buka aplikasi media pembelajaran, masuk ke pertemuan XII.1, lalu pilih salindia bertanda simulasi — atau buka menu Simulasi dan pilih "Brute Force vs Greedy".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6A7090"/>
                </a:solidFill>
              </a:rPr>
              <a:t>Dikaitkan dengan materi: Memilih strategi sebelum mengetik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Langkah murid: amati → ubah nilainya → catat yang berubah → simpulkan bersama kelompok.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3840480"/>
            <a:ext cx="8010144" cy="658368"/>
          </a:xfrm>
          <a:prstGeom prst="roundRect">
            <a:avLst>
              <a:gd name="adj" fmla="val 16667"/>
            </a:avLst>
          </a:prstGeom>
          <a:solidFill>
            <a:srgbClr val="FF8A5B">
              <a:alpha val="28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84048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33"/>
                </a:solidFill>
              </a:rPr>
              <a:t>Pertanyaan pemandu: apa yang berubah ketika nilainya diubah, dan mengapa hal itu terjadi?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XII.1 · Strategi Algoritmik dan Pengembangan Program Terstruktur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Struktur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Tiga struktur dasar program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Runtunan: perintah dijalankan berurutan.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Percabangan: if, else if, else, dan switch.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Perulangan: for untuk jumlah pasti, while untuk kondisi.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Hindari lompatan tak beraturan yang membuat alur sulit diikuti.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XII.1 · Strategi Algoritmik dan Pengembangan Program Terstruktur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Modularisasi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Fungsi dan prosedur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Satu fungsi mengerjakan satu tugas yang jelas.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Parameter adalah masukan fungsi; nilai kembalian adalah hasilnya.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Variabel lokal mencegah efek samping yang sulit dilacak.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Fungsi memudahkan pengujian: setiap bagian dapat diuji terpisah.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XII.1 · Strategi Algoritmik dan Pengembangan Program Terstruktur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D1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8338A8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FF8A5B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FF8A5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8A5B"/>
                </a:solidFill>
              </a:rPr>
              <a:t>JEDA SEJENAK · CEK PEMAHAMAN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887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Mengapa algoritma sebaiknya ditulis sebelum kode?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0175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6FB"/>
                </a:solidFill>
              </a:rPr>
              <a:t>Jawab bersama teman sebangku selama satu menit, lalu dua orang berbagi jawabannya di depan kelas.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XII.1 · Strategi Algoritmik dan Pengembangan Program Terstruktur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Rekursi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Fungsi yang memanggil dirinya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Perlu kasus dasar agar pemanggilan berhenti.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Contoh: faktorial, Fibonacci, dan penelusuran struktur pohon.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Rekursi membuat kode ringkas, tetapi boros memori tumpukan bila terlalu dalam.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XII.1 · Strategi Algoritmik dan Pengembangan Program Terstruktur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5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3D1452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-502920"/>
            <a:ext cx="2011680" cy="2011680"/>
          </a:xfrm>
          <a:prstGeom prst="ellipse">
            <a:avLst/>
          </a:prstGeom>
          <a:solidFill>
            <a:srgbClr val="FF8A5B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828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F8A5B"/>
                </a:solidFill>
              </a:rPr>
              <a:t>SIMULASI INTERAKTIF · MENGAPLIKASI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572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Penelusuran Pseudocode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8010144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600200"/>
            <a:ext cx="7406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A4060"/>
                </a:solidFill>
              </a:rPr>
              <a:t>Buka aplikasi media pembelajaran, masuk ke pertemuan XII.1, lalu pilih salindia bertanda simulasi — atau buka menu Simulasi dan pilih "Penelusuran Pseudocode".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6A7090"/>
                </a:solidFill>
              </a:rPr>
              <a:t>Dikaitkan dengan materi: Fungsi yang memanggil dirinya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Langkah murid: amati → ubah nilainya → catat yang berubah → simpulkan bersama kelompok.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3840480"/>
            <a:ext cx="8010144" cy="658368"/>
          </a:xfrm>
          <a:prstGeom prst="roundRect">
            <a:avLst>
              <a:gd name="adj" fmla="val 16667"/>
            </a:avLst>
          </a:prstGeom>
          <a:solidFill>
            <a:srgbClr val="FF8A5B">
              <a:alpha val="28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84048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33"/>
                </a:solidFill>
              </a:rPr>
              <a:t>Pertanyaan pemandu: apa yang berubah ketika nilainya diubah, dan mengapa hal itu terjadi?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XII.1 · Strategi Algoritmik dan Pengembangan Program Terstruktur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Praktik baik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Menulis program yang hidup lama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Nama variabel dan fungsi menjelaskan maksudnya.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Konsisten dalam indentasi dan gaya penulisan.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Tangani masukan yang tidak wajar, jangan berasumsi pengguna selalu benar.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Uji setiap bagian segera setelah ditulis.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XII.1 · Strategi Algoritmik dan Pengembangan Program Terstruktur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D1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8338A8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FF8A5B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FF8A5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8A5B"/>
                </a:solidFill>
              </a:rPr>
              <a:t>JEDA SEJENAK · CEK PEMAHAMAN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887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Apa manfaat memecah program menjadi fungsi?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0175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6FB"/>
                </a:solidFill>
              </a:rPr>
              <a:t>Jawab bersama teman sebangku selama satu menit, lalu dua orang berbagi jawabannya di depan kelas.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XII.1 · Strategi Algoritmik dan Pengembangan Program Terstruktur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3D1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8338A8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FF8A5B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FF8A5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8A5B"/>
                </a:solidFill>
              </a:rPr>
              <a:t>JEDA SEJENAK · CEK PEMAHAMAN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887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Apa yang wajib ada agar rekursi berhenti?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0175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6FB"/>
                </a:solidFill>
              </a:rPr>
              <a:t>Jawab bersama teman sebangku selama satu menit, lalu dua orang berbagi jawabannya di depan kelas.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XII.1 · Strategi Algoritmik dan Pengembangan Program Terstruktur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AKTIVITAS · MENGAPLIKASI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Membangun Program Modular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572768"/>
            <a:ext cx="7863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338A8"/>
                </a:solidFill>
              </a:rPr>
              <a:t>⏱ 45 menit · berpasangan     📦 Produk: Berkas program modular + catatan pengujian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58368" y="196596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8338A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61872" y="1947672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Pilih satu persoalan: rekap nilai, konversi satuan, atau statistik sederhana.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8368" y="258775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8338A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61872" y="2569464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Tulis algoritmanya dalam notasi, tentukan strategi algoritmiknya.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8368" y="320954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8338A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8368" y="3209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61872" y="3191256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Implementasikan dengan minimal dua fungsi.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8368" y="3831336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8338A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" y="3831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61872" y="3813048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Uji dengan tiga masukan berbeda, termasuk kasus batas.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XII.1 · Strategi Algoritmik dan Pengembangan Program Terstruktur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EVALUASI FORMATIF · KUIS CEPAT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Seberapa paham kita hari ini?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2763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33"/>
                </a:solidFill>
              </a:rPr>
              <a:t>1. Ciri program terstruktur adalah …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193852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A. Satu fungsi panjang     B. Runtunan, percabangan, perulangan yang jelas dan modular     C. Tanpa komentar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58775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33"/>
                </a:solidFill>
              </a:rPr>
              <a:t>2. Fungsi hitung(a,b) mengembalikan a + 2×b. hitung(3,4) bernilai …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89864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A. 10     B. 11     C. 14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354787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33"/>
                </a:solidFill>
              </a:rPr>
              <a:t>3. Rekursi tanpa kasus dasar akan …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85876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A. Berjalan selamanya atau gagal     B. Lebih cepat     C. Menghemat memori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8368" y="4443984"/>
            <a:ext cx="7827264" cy="91"/>
          </a:xfrm>
          <a:prstGeom prst="roundRect">
            <a:avLst>
              <a:gd name="adj" fmla="val 50241758"/>
            </a:avLst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XII.1 · Strategi Algoritmik dan Pengembangan Program Terstruktur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3D1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8338A8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FF8A5B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FF8A5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8A5B"/>
                </a:solidFill>
              </a:rPr>
              <a:t>PENUTUP · REFLEKSI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0058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Mari kita refleksikan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92024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EDECFC"/>
                </a:solidFill>
              </a:rPr>
              <a:t>Bagian mana yang paling menarik bagimu hari ini?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EDECFC"/>
                </a:solidFill>
              </a:rPr>
              <a:t>Apa yang masih membuatmu bingung?</a:t>
            </a:r>
            <a:endParaRPr lang="en-US" sz="1500" dirty="0"/>
          </a:p>
          <a:p>
            <a:pPr marL="342900" indent="-342900">
              <a:buSzPct val="100000"/>
              <a:buChar char="■"/>
            </a:pPr>
            <a:r>
              <a:rPr lang="en-US" sz="1500" dirty="0">
                <a:solidFill>
                  <a:srgbClr val="EDECFC"/>
                </a:solidFill>
              </a:rPr>
              <a:t>Di mana kamu akan memakai pengetahuan ini di luar kelas?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3566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BAE8"/>
                </a:solidFill>
              </a:rPr>
              <a:t>Tuliskan jawabanmu di buku catatan atau sampaikan secara lisan.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XII.1 · Strategi Algoritmik dan Pengembangan Program Terstruktur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D1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8338A8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FF8A5B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FF8A5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8A5B"/>
                </a:solidFill>
              </a:rPr>
              <a:t>PENUTUP · TINDAK LANJUT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96012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Terima kasih, kalian hebat hari ini!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87452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400" dirty="0">
                <a:solidFill>
                  <a:srgbClr val="EDECFC"/>
                </a:solidFill>
              </a:rPr>
              <a:t>Pertemuan berikutnya: XII.2 — Implementasi Algoritma Standar dan Kualitas Kode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400" dirty="0">
                <a:solidFill>
                  <a:srgbClr val="EDECFC"/>
                </a:solidFill>
              </a:rPr>
              <a:t>Persiapan: baca sekilas materi berikutnya dan catat satu pertanyaan yang ingin kamu tanyakan.</a:t>
            </a:r>
            <a:endParaRPr lang="en-US" sz="1400" dirty="0"/>
          </a:p>
          <a:p>
            <a:pPr marL="342900" indent="-342900">
              <a:buSzPct val="100000"/>
              <a:buChar char="■"/>
            </a:pPr>
            <a:r>
              <a:rPr lang="en-US" sz="1400" dirty="0">
                <a:solidFill>
                  <a:srgbClr val="EDECFC"/>
                </a:solidFill>
              </a:rPr>
              <a:t>Latihan mandiri: buka kembali simulasi pada pertemuan ini dan coba dengan data buatanmu sendiri.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3886200"/>
            <a:ext cx="2528316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8A5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3886200"/>
            <a:ext cx="25283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Mutmainnah Syam, S.Pd., M.Pd.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23260" y="3886200"/>
            <a:ext cx="3291840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8A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23260" y="38862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Konsultasi di jam istirahat atau melalui kanal kelas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XII.1 · Strategi Algoritmik dan Pengembangan Program Terstruktur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3D1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8338A8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FF8A5B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FF8A5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8A5B"/>
                </a:solidFill>
              </a:rPr>
              <a:t>XII.2 · Ganjil · 10 JP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005840"/>
            <a:ext cx="7589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Implementasi Algoritma Standar dan Kualitas Kode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56032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6FB"/>
                </a:solidFill>
              </a:rPr>
              <a:t>Halo, selamat datang di kelas Informatika! Semoga hari ini kita belajar dengan gembira dan pulang membawa satu kemampuan baru.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3886200"/>
            <a:ext cx="2217420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8A5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3886200"/>
            <a:ext cx="22174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Algoritma dan Pemrograman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12364" y="3886200"/>
            <a:ext cx="662940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8A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12364" y="3886200"/>
            <a:ext cx="6629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 JP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BAE8"/>
                </a:solidFill>
              </a:rPr>
              <a:t>Mutmainnah Syam, S.Pd., M.Pd.  ·  SMA Negeri 11 Pinrang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PEMBUKA · TUJUAN PEMBELAJARAN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Di akhir pertemuan ini kamu akan mampu…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Mengembangkan algoritma standar ke kode sumber dengan memperhatikan kualitas.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41605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338A8"/>
                </a:solidFill>
              </a:rPr>
              <a:t>Alokasi 10 JP  ·  Elemen: Algoritma dan Pemrograman  ·  Kriteria ketuntasan 75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XII.2 · Implementasi Algoritma Standar dan Kualitas Kode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PEMBUKA · APERSEPSI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Menyambung perjalanan belajar kita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6928" y="16459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7556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338A8"/>
                </a:solidFill>
              </a:rPr>
              <a:t>Pertemuan lalu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0299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Strategi Algoritmik dan Pengembangan Program Terstruktur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18304" y="16459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01184" y="17556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338A8"/>
                </a:solidFill>
              </a:rPr>
              <a:t>Hari ini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901184" y="20299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Implementasi Algoritma Standar dan Kualitas Kode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0175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31272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338A8"/>
                </a:solidFill>
              </a:rPr>
              <a:t>Pertanyaan pembuka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34015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Apa yang masih kamu ingat dari pertemuan sebelumnya?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18304" y="30175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01184" y="31272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338A8"/>
                </a:solidFill>
              </a:rPr>
              <a:t>Mengapa penting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901184" y="34015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Menuliskan algoritma pencarian dan pengurutan ke kode sumber yang berkualitas.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XII.2 · Implementasi Algoritma Standar dan Kualitas Kode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Pemantik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Kode yang jalan belum tentu kode yang baik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Kode dibaca manusia jauh lebih sering daripada ditulis.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Kode buruk tetap berjalan hari ini, tetapi mahal diperbaiki bulan depan.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XII.2 · Implementasi Algoritma Standar dan Kualitas Kode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Implementasi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Dari algoritma ke kode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Terjemahkan langkah algoritma satu per satu, jangan langsung mengoptimalkan.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Pastikan batas indeks benar; kesalahan satu langkah (off-by-one) paling sering terjadi.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Uji dengan data kosong, satu elemen, data terurut, dan data terbalik.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XII.2 · Implementasi Algoritma Standar dan Kualitas Kode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5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3D1452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-502920"/>
            <a:ext cx="2011680" cy="2011680"/>
          </a:xfrm>
          <a:prstGeom prst="ellipse">
            <a:avLst/>
          </a:prstGeom>
          <a:solidFill>
            <a:srgbClr val="FF8A5B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828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F8A5B"/>
                </a:solidFill>
              </a:rPr>
              <a:t>SIMULASI INTERAKTIF · MENGAPLIKASI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572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Visualisasi Pengurutan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8010144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600200"/>
            <a:ext cx="7406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A4060"/>
                </a:solidFill>
              </a:rPr>
              <a:t>Buka aplikasi media pembelajaran, masuk ke pertemuan XII.2, lalu pilih salindia bertanda simulasi — atau buka menu Simulasi dan pilih "Visualisasi Pengurutan".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6A7090"/>
                </a:solidFill>
              </a:rPr>
              <a:t>Dikaitkan dengan materi: Dari algoritma ke kode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Langkah murid: amati → ubah nilainya → catat yang berubah → simpulkan bersama kelompok.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3840480"/>
            <a:ext cx="8010144" cy="658368"/>
          </a:xfrm>
          <a:prstGeom prst="roundRect">
            <a:avLst>
              <a:gd name="adj" fmla="val 16667"/>
            </a:avLst>
          </a:prstGeom>
          <a:solidFill>
            <a:srgbClr val="FF8A5B">
              <a:alpha val="28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84048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33"/>
                </a:solidFill>
              </a:rPr>
              <a:t>Pertanyaan pemandu: apa yang berubah ketika nilainya diubah, dan mengapa hal itu terjadi?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XII.2 · Implementasi Algoritma Standar dan Kualitas Kode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Kualitas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Ciri kode yang berkualitas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Keterbacaan: nama bermakna, fungsi ringkas, indentasi konsisten.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Modularitas: tidak ada pengulangan kode yang sama di banyak tempat.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Dokumentasi: komentar menjelaskan 'mengapa', bukan mengulang 'apa'.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Efisiensi: pilih algoritma tepat sebelum mengutak-atik detail kecil.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XII.2 · Implementasi Algoritma Standar dan Kualitas Kode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5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3D1452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-502920"/>
            <a:ext cx="2011680" cy="2011680"/>
          </a:xfrm>
          <a:prstGeom prst="ellipse">
            <a:avLst/>
          </a:prstGeom>
          <a:solidFill>
            <a:srgbClr val="FF8A5B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828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F8A5B"/>
                </a:solidFill>
              </a:rPr>
              <a:t>SIMULASI INTERAKTIF · MENGAPLIKASI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572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Tinjauan Kualitas Kode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8010144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600200"/>
            <a:ext cx="7406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A4060"/>
                </a:solidFill>
              </a:rPr>
              <a:t>Buka aplikasi media pembelajaran, masuk ke pertemuan XII.2, lalu pilih salindia bertanda simulasi — atau buka menu Simulasi dan pilih "Tinjauan Kualitas Kode".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6A7090"/>
                </a:solidFill>
              </a:rPr>
              <a:t>Dikaitkan dengan materi: Ciri kode yang berkualitas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Langkah murid: amati → ubah nilainya → catat yang berubah → simpulkan bersama kelompok.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3840480"/>
            <a:ext cx="8010144" cy="658368"/>
          </a:xfrm>
          <a:prstGeom prst="roundRect">
            <a:avLst>
              <a:gd name="adj" fmla="val 16667"/>
            </a:avLst>
          </a:prstGeom>
          <a:solidFill>
            <a:srgbClr val="FF8A5B">
              <a:alpha val="28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84048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33"/>
                </a:solidFill>
              </a:rPr>
              <a:t>Pertanyaan pemandu: apa yang berubah ketika nilainya diubah, dan mengapa hal itu terjadi?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XII.2 · Implementasi Algoritma Standar dan Kualitas Kode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Pengukuran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Mengukur kinerja program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Catat waktu mulai dan selesai untuk data berukuran berbeda.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Bandingkan pertumbuhan waktu, bukan satu angka tunggal.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Pengukuran dipengaruhi perangkat; jalankan beberapa kali lalu ambil rerata.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XII.2 · Implementasi Algoritma Standar dan Kualitas Kode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5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3D1452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-502920"/>
            <a:ext cx="2011680" cy="2011680"/>
          </a:xfrm>
          <a:prstGeom prst="ellipse">
            <a:avLst/>
          </a:prstGeom>
          <a:solidFill>
            <a:srgbClr val="FF8A5B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828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F8A5B"/>
                </a:solidFill>
              </a:rPr>
              <a:t>SIMULASI INTERAKTIF · MENGAPLIKASI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572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Pencarian Berurutan vs Biner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8010144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600200"/>
            <a:ext cx="7406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A4060"/>
                </a:solidFill>
              </a:rPr>
              <a:t>Buka aplikasi media pembelajaran, masuk ke pertemuan XII.2, lalu pilih salindia bertanda simulasi — atau buka menu Simulasi dan pilih "Pencarian Berurutan vs Biner".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6A7090"/>
                </a:solidFill>
              </a:rPr>
              <a:t>Dikaitkan dengan materi: Mengukur kinerja program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Langkah murid: amati → ubah nilainya → catat yang berubah → simpulkan bersama kelompok.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3840480"/>
            <a:ext cx="8010144" cy="658368"/>
          </a:xfrm>
          <a:prstGeom prst="roundRect">
            <a:avLst>
              <a:gd name="adj" fmla="val 16667"/>
            </a:avLst>
          </a:prstGeom>
          <a:solidFill>
            <a:srgbClr val="FF8A5B">
              <a:alpha val="28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84048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33"/>
                </a:solidFill>
              </a:rPr>
              <a:t>Pertanyaan pemandu: apa yang berubah ketika nilainya diubah, dan mengapa hal itu terjadi?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XII.2 · Implementasi Algoritma Standar dan Kualitas Kode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Tinjauan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Code review sejawat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Tinjau kode teman dengan fokus pada keterbacaan dan kebenaran, bukan selera pribadi.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Berikan komentar spesifik dan sopan, sertakan usulan perbaikan.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Tinjauan sejawat menemukan kesalahan yang tidak terlihat oleh penulisnya.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XII.2 · Implementasi Algoritma Standar dan Kualitas Kode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3D1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8338A8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FF8A5B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FF8A5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8A5B"/>
                </a:solidFill>
              </a:rPr>
              <a:t>JEDA SEJENAK · CEK PEMAHAMAN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887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Mengapa kode yang berjalan belum tentu kode yang baik?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0175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6FB"/>
                </a:solidFill>
              </a:rPr>
              <a:t>Jawab bersama teman sebangku selama satu menit, lalu dua orang berbagi jawabannya di depan kelas.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XII.2 · Implementasi Algoritma Standar dan Kualitas Kode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3D1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8338A8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FF8A5B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FF8A5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8A5B"/>
                </a:solidFill>
              </a:rPr>
              <a:t>JEDA SEJENAK · CEK PEMAHAMAN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887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Sebutkan dua ciri kode berkualitas.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0175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6FB"/>
                </a:solidFill>
              </a:rPr>
              <a:t>Jawab bersama teman sebangku selama satu menit, lalu dua orang berbagi jawabannya di depan kelas.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XII.2 · Implementasi Algoritma Standar dan Kualitas Kode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3D1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8338A8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FF8A5B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FF8A5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8A5B"/>
                </a:solidFill>
              </a:rPr>
              <a:t>JEDA SEJENAK · CEK PEMAHAMAN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887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Kesalahan apa yang paling sering terjadi saat mengimplementasikan algoritma?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0175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6FB"/>
                </a:solidFill>
              </a:rPr>
              <a:t>Jawab bersama teman sebangku selama satu menit, lalu dua orang berbagi jawabannya di depan kelas.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XII.2 · Implementasi Algoritma Standar dan Kualitas Kode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AKTIVITAS · MENGAPLIKASI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Tinjauan Kode Sejawat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572768"/>
            <a:ext cx="7863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338A8"/>
                </a:solidFill>
              </a:rPr>
              <a:t>⏱ 40 menit · kelompok 3 orang     📦 Produk: Kode yang telah diperbaiki + catatan tinjauan sejawat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58368" y="196596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8338A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61872" y="1947672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Implementasikan satu algoritma pencarian dan satu algoritma pengurutan.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8368" y="258775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8338A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61872" y="2569464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Tukar kode dengan kelompok lain.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8368" y="320954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8338A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8368" y="3209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61872" y="3191256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Nilai dengan daftar periksa: penamaan, modularitas, dokumentasi, penanganan masukan.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8368" y="3831336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8338A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" y="3831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61872" y="3813048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Kembalikan kode disertai tiga saran perbaikan yang spesifik dan sopan.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XII.2 · Implementasi Algoritma Standar dan Kualitas Kode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EVALUASI FORMATIF · KUIS CEPAT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Seberapa paham kita hari ini?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2763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33"/>
                </a:solidFill>
              </a:rPr>
              <a:t>1. Komentar yang baik menjelaskan …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193852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A. Apa yang sudah jelas dari kode     B. Mengapa keputusan itu diambil     C. Nama pembuat kode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58775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33"/>
                </a:solidFill>
              </a:rPr>
              <a:t>2. Mencari satu data pada sejuta data terurut paling tepat memakai …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89864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A. Sequential search     B. Binary search     C. Bubble sort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354787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33"/>
                </a:solidFill>
              </a:rPr>
              <a:t>3. Kode yang sama ditulis berulang di banyak tempat sebaiknya …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85876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A. Dibiarkan     B. Dijadikan satu fungsi     C. Dihapus semua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8368" y="4443984"/>
            <a:ext cx="7827264" cy="91"/>
          </a:xfrm>
          <a:prstGeom prst="roundRect">
            <a:avLst>
              <a:gd name="adj" fmla="val 50241758"/>
            </a:avLst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XII.2 · Implementasi Algoritma Standar dan Kualitas Kode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3D1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8338A8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FF8A5B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FF8A5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8A5B"/>
                </a:solidFill>
              </a:rPr>
              <a:t>PENUTUP · REFLEKSI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0058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Mari kita refleksikan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92024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EDECFC"/>
                </a:solidFill>
              </a:rPr>
              <a:t>Bagian mana yang paling menarik bagimu hari ini?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EDECFC"/>
                </a:solidFill>
              </a:rPr>
              <a:t>Apa yang masih membuatmu bingung?</a:t>
            </a:r>
            <a:endParaRPr lang="en-US" sz="1500" dirty="0"/>
          </a:p>
          <a:p>
            <a:pPr marL="342900" indent="-342900">
              <a:buSzPct val="100000"/>
              <a:buChar char="■"/>
            </a:pPr>
            <a:r>
              <a:rPr lang="en-US" sz="1500" dirty="0">
                <a:solidFill>
                  <a:srgbClr val="EDECFC"/>
                </a:solidFill>
              </a:rPr>
              <a:t>Di mana kamu akan memakai pengetahuan ini di luar kelas?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3566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BAE8"/>
                </a:solidFill>
              </a:rPr>
              <a:t>Tuliskan jawabanmu di buku catatan atau sampaikan secara lisan.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XII.2 · Implementasi Algoritma Standar dan Kualitas Kode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3D1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8338A8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FF8A5B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FF8A5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8A5B"/>
                </a:solidFill>
              </a:rPr>
              <a:t>PENUTUP · TINDAK LANJUT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96012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Terima kasih, kalian hebat hari ini!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87452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400" dirty="0">
                <a:solidFill>
                  <a:srgbClr val="EDECFC"/>
                </a:solidFill>
              </a:rPr>
              <a:t>Pertemuan berikutnya: XII.3 — Pemeliharaan dan Penyempurnaan Program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400" dirty="0">
                <a:solidFill>
                  <a:srgbClr val="EDECFC"/>
                </a:solidFill>
              </a:rPr>
              <a:t>Persiapan: baca sekilas materi berikutnya dan catat satu pertanyaan yang ingin kamu tanyakan.</a:t>
            </a:r>
            <a:endParaRPr lang="en-US" sz="1400" dirty="0"/>
          </a:p>
          <a:p>
            <a:pPr marL="342900" indent="-342900">
              <a:buSzPct val="100000"/>
              <a:buChar char="■"/>
            </a:pPr>
            <a:r>
              <a:rPr lang="en-US" sz="1400" dirty="0">
                <a:solidFill>
                  <a:srgbClr val="EDECFC"/>
                </a:solidFill>
              </a:rPr>
              <a:t>Latihan mandiri: buka kembali simulasi pada pertemuan ini dan coba dengan data buatanmu sendiri.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3886200"/>
            <a:ext cx="2528316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8A5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3886200"/>
            <a:ext cx="25283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Mutmainnah Syam, S.Pd., M.Pd.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23260" y="3886200"/>
            <a:ext cx="3291840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8A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23260" y="38862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Konsultasi di jam istirahat atau melalui kanal kelas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XII.2 · Implementasi Algoritma Standar dan Kualitas Kode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3D1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8338A8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FF8A5B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FF8A5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8A5B"/>
                </a:solidFill>
              </a:rPr>
              <a:t>XII.3 · Ganjil · 10 JP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005840"/>
            <a:ext cx="7589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Pemeliharaan dan Penyempurnaan Program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56032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6FB"/>
                </a:solidFill>
              </a:rPr>
              <a:t>Halo, selamat datang di kelas Informatika! Semoga hari ini kita belajar dengan gembira dan pulang membawa satu kemampuan baru.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3886200"/>
            <a:ext cx="2217420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8A5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3886200"/>
            <a:ext cx="22174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Algoritma dan Pemrograman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12364" y="3886200"/>
            <a:ext cx="662940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8A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12364" y="3886200"/>
            <a:ext cx="6629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 JP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BAE8"/>
                </a:solidFill>
              </a:rPr>
              <a:t>Mutmainnah Syam, S.Pd., M.Pd.  ·  SMA Negeri 11 Pinrang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PEMBUKA · TUJUAN PEMBELAJARAN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Di akhir pertemuan ini kamu akan mampu…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Memelihara dan menyempurnakan program melalui pengujian, penelusuran kesalahan, perapian kode, dan dokumentasi.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41605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338A8"/>
                </a:solidFill>
              </a:rPr>
              <a:t>Alokasi 10 JP  ·  Elemen: Algoritma dan Pemrograman  ·  Kriteria ketuntasan 75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XII.3 · Pemeliharaan dan Penyempurnaan Program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PEMBUKA · APERSEPSI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Menyambung perjalanan belajar kita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6928" y="16459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7556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338A8"/>
                </a:solidFill>
              </a:rPr>
              <a:t>Pertemuan lalu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0299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Implementasi Algoritma Standar dan Kualitas Kode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18304" y="16459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01184" y="17556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338A8"/>
                </a:solidFill>
              </a:rPr>
              <a:t>Hari ini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901184" y="20299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Pemeliharaan dan Penyempurnaan Program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0175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31272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338A8"/>
                </a:solidFill>
              </a:rPr>
              <a:t>Pertanyaan pembuka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34015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Apa yang masih kamu ingat dari pertemuan sebelumnya?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18304" y="30175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01184" y="31272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338A8"/>
                </a:solidFill>
              </a:rPr>
              <a:t>Mengapa penting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901184" y="34015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Jenis kesalahan, debugging, pengujian, refactoring, dokumentasi, dan pengelolaan versi.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XII.3 · Pemeliharaan dan Penyempurnaan Program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Pemantik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Kemarin jalan, hari ini gagal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Program yang hidup selalu berubah: data bertambah, kebutuhan bergeser, perangkat diperbarui.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Kemampuan memperbaiki sama pentingnya dengan kemampuan membuat.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XII.3 · Pemeliharaan dan Penyempurnaan Program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Kesalahan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Tiga jenis kesalahan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Sintaksis — aturan penulisan dilanggar; ditolak sebelum program jalan.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Runtime — muncul saat dijalankan, misalnya pembagian dengan nol.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Logika — program berjalan tetapi hasilnya salah; paling sulit ditemukan.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XII.3 · Pemeliharaan dan Penyempurnaan Program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3D1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8338A8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FF8A5B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FF8A5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8A5B"/>
                </a:solidFill>
              </a:rPr>
              <a:t>JEDA SEJENAK · CEK PEMAHAMAN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887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Apa beda kesalahan sintaksis, runtime, dan logika?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0175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6FB"/>
                </a:solidFill>
              </a:rPr>
              <a:t>Jawab bersama teman sebangku selama satu menit, lalu dua orang berbagi jawabannya di depan kelas.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XII.3 · Pemeliharaan dan Penyempurnaan Program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Debugging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Menelusuri kesalahan secara sistematis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1. Tirukan kesalahan dengan langkah yang pasti.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2. Persempit wilayah kode yang dicurigai.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3. Periksa nilai variabel di titik-titik kunci.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4. Perbaiki satu hal saja, lalu uji ulang.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5. Catat penyebab dan solusinya agar tidak terulang.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XII.3 · Pemeliharaan dan Penyempurnaan Program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4F5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3D1452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-502920"/>
            <a:ext cx="2011680" cy="2011680"/>
          </a:xfrm>
          <a:prstGeom prst="ellipse">
            <a:avLst/>
          </a:prstGeom>
          <a:solidFill>
            <a:srgbClr val="FF8A5B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828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F8A5B"/>
                </a:solidFill>
              </a:rPr>
              <a:t>SIMULASI INTERAKTIF · MENGAPLIKASI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572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Penelusuran Pseudocode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8010144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600200"/>
            <a:ext cx="7406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A4060"/>
                </a:solidFill>
              </a:rPr>
              <a:t>Buka aplikasi media pembelajaran, masuk ke pertemuan XII.3, lalu pilih salindia bertanda simulasi — atau buka menu Simulasi dan pilih "Penelusuran Pseudocode".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6A7090"/>
                </a:solidFill>
              </a:rPr>
              <a:t>Dikaitkan dengan materi: Menelusuri kesalahan secara sistematis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Langkah murid: amati → ubah nilainya → catat yang berubah → simpulkan bersama kelompok.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3840480"/>
            <a:ext cx="8010144" cy="658368"/>
          </a:xfrm>
          <a:prstGeom prst="roundRect">
            <a:avLst>
              <a:gd name="adj" fmla="val 16667"/>
            </a:avLst>
          </a:prstGeom>
          <a:solidFill>
            <a:srgbClr val="FF8A5B">
              <a:alpha val="28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84048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33"/>
                </a:solidFill>
              </a:rPr>
              <a:t>Pertanyaan pemandu: apa yang berubah ketika nilainya diubah, dan mengapa hal itu terjadi?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XII.3 · Pemeliharaan dan Penyempurnaan Program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Pengujian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Merancang kasus uji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Kasus normal, kasus batas (0, 1, nilai maksimum), dan kasus tidak wajar (huruf pada isian angka).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Tuliskan hasil yang diharapkan sebelum menjalankan program.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Uji regresi: jalankan semua kasus uji setiap kali kode diubah.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XII.3 · Pemeliharaan dan Penyempurnaan Program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Refactoring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Merapikan tanpa mengubah perilaku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Ganti nama yang membingungkan, pecah fungsi panjang, hilangkan kode kembar.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Lakukan dalam langkah kecil dan uji setiap selesai satu langkah.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Refactoring bukan menambah fitur; perilaku program harus tetap sama.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XII.3 · Pemeliharaan dan Penyempurnaan Program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4F5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3D1452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-502920"/>
            <a:ext cx="2011680" cy="2011680"/>
          </a:xfrm>
          <a:prstGeom prst="ellipse">
            <a:avLst/>
          </a:prstGeom>
          <a:solidFill>
            <a:srgbClr val="FF8A5B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828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F8A5B"/>
                </a:solidFill>
              </a:rPr>
              <a:t>SIMULASI INTERAKTIF · MENGAPLIKASI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572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Tinjauan Kualitas Kode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8010144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600200"/>
            <a:ext cx="7406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A4060"/>
                </a:solidFill>
              </a:rPr>
              <a:t>Buka aplikasi media pembelajaran, masuk ke pertemuan XII.3, lalu pilih salindia bertanda simulasi — atau buka menu Simulasi dan pilih "Tinjauan Kualitas Kode".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6A7090"/>
                </a:solidFill>
              </a:rPr>
              <a:t>Dikaitkan dengan materi: Merapikan tanpa mengubah perilaku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Langkah murid: amati → ubah nilainya → catat yang berubah → simpulkan bersama kelompok.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3840480"/>
            <a:ext cx="8010144" cy="658368"/>
          </a:xfrm>
          <a:prstGeom prst="roundRect">
            <a:avLst>
              <a:gd name="adj" fmla="val 16667"/>
            </a:avLst>
          </a:prstGeom>
          <a:solidFill>
            <a:srgbClr val="FF8A5B">
              <a:alpha val="28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84048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33"/>
                </a:solidFill>
              </a:rPr>
              <a:t>Pertanyaan pemandu: apa yang berubah ketika nilainya diubah, dan mengapa hal itu terjadi?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XII.3 · Pemeliharaan dan Penyempurnaan Program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Dokumentasi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Dokumentasi dan pengelolaan versi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README menjelaskan tujuan, cara memasang, dan cara menjalankan program.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Komentar untuk bagian yang keputusannya tidak jelas.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Pengelolaan versi (misalnya Git) menyimpan riwayat perubahan dan memudahkan kerja tim.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Pesan perubahan yang baik menjelaskan apa dan mengapa, bukan sekadar 'perbaikan'.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XII.3 · Pemeliharaan dan Penyempurnaan Program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3D1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8338A8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FF8A5B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FF8A5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8A5B"/>
                </a:solidFill>
              </a:rPr>
              <a:t>JEDA SEJENAK · CEK PEMAHAMAN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887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Mengapa perlu menguji kasus batas?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0175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6FB"/>
                </a:solidFill>
              </a:rPr>
              <a:t>Jawab bersama teman sebangku selama satu menit, lalu dua orang berbagi jawabannya di depan kelas.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XII.3 · Pemeliharaan dan Penyempurnaan Program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3D1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8338A8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FF8A5B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FF8A5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8A5B"/>
                </a:solidFill>
              </a:rPr>
              <a:t>JEDA SEJENAK · CEK PEMAHAMAN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887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Apa yang dimaksud refactoring?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0175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6FB"/>
                </a:solidFill>
              </a:rPr>
              <a:t>Jawab bersama teman sebangku selama satu menit, lalu dua orang berbagi jawabannya di depan kelas.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XII.3 · Pemeliharaan dan Penyempurnaan Program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AKTIVITAS · MENGAPLIKASI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Klinik Program: Perbaiki dan Rapikan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572768"/>
            <a:ext cx="7863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338A8"/>
                </a:solidFill>
              </a:rPr>
              <a:t>⏱ 45 menit · berpasangan     📦 Produk: Program yang telah diuji, dirapikan, dan didokumentasikan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58368" y="196596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8338A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61872" y="1947672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Terima berkas program bermasalah dari guru.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8368" y="258775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8338A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61872" y="2569464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Susun lima kasus uji, termasuk kasus batas dan masukan tidak wajar.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8368" y="320954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8338A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8368" y="3209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61872" y="3191256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Telusuri penyebab kesalahan, perbaiki satu per satu, uji ulang.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8368" y="3831336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8338A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" y="3831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61872" y="3813048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Rapikan kode tanpa mengubah perilakunya, lalu lengkapi dokumentasi.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XII.3 · Pemeliharaan dan Penyempurnaan Program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EVALUASI FORMATIF · KUIS CEPAT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Seberapa paham kita hari ini?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2763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33"/>
                </a:solidFill>
              </a:rPr>
              <a:t>1. Pembagian dengan nol saat program berjalan termasuk kesalahan …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193852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A. Sintaksis     B. Runtime     C. Logika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58775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33"/>
                </a:solidFill>
              </a:rPr>
              <a:t>2. Refactoring berarti memperbaiki struktur kode …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89864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A. Sekaligus menambah fitur     B. Tanpa mengubah perilaku program     C. Dengan menghapus pengujian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354787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33"/>
                </a:solidFill>
              </a:rPr>
              <a:t>3. Pengujian regresi dilakukan …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85876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A. Sekali di awal     B. Setiap kali kode diubah     C. Hanya jika ada laporan pengguna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8368" y="4443984"/>
            <a:ext cx="7827264" cy="91"/>
          </a:xfrm>
          <a:prstGeom prst="roundRect">
            <a:avLst>
              <a:gd name="adj" fmla="val 50241758"/>
            </a:avLst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XII.3 · Pemeliharaan dan Penyempurnaan Program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3D1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8338A8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FF8A5B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FF8A5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8A5B"/>
                </a:solidFill>
              </a:rPr>
              <a:t>PENUTUP · REFLEKSI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0058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Mari kita refleksikan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92024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EDECFC"/>
                </a:solidFill>
              </a:rPr>
              <a:t>Bagian mana yang paling menarik bagimu hari ini?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EDECFC"/>
                </a:solidFill>
              </a:rPr>
              <a:t>Apa yang masih membuatmu bingung?</a:t>
            </a:r>
            <a:endParaRPr lang="en-US" sz="1500" dirty="0"/>
          </a:p>
          <a:p>
            <a:pPr marL="342900" indent="-342900">
              <a:buSzPct val="100000"/>
              <a:buChar char="■"/>
            </a:pPr>
            <a:r>
              <a:rPr lang="en-US" sz="1500" dirty="0">
                <a:solidFill>
                  <a:srgbClr val="EDECFC"/>
                </a:solidFill>
              </a:rPr>
              <a:t>Di mana kamu akan memakai pengetahuan ini di luar kelas?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3566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BAE8"/>
                </a:solidFill>
              </a:rPr>
              <a:t>Tuliskan jawabanmu di buku catatan atau sampaikan secara lisan.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XII.3 · Pemeliharaan dan Penyempurnaan Program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3D1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8338A8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FF8A5B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FF8A5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8A5B"/>
                </a:solidFill>
              </a:rPr>
              <a:t>PENUTUP · TINDAK LANJUT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96012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Terima kasih, kalian hebat hari ini!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87452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400" dirty="0">
                <a:solidFill>
                  <a:srgbClr val="EDECFC"/>
                </a:solidFill>
              </a:rPr>
              <a:t>Pertemuan berikutnya: XII.4 — Struktur Data Kompleks dan Pemanfaatan Library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400" dirty="0">
                <a:solidFill>
                  <a:srgbClr val="EDECFC"/>
                </a:solidFill>
              </a:rPr>
              <a:t>Persiapan: baca sekilas materi berikutnya dan catat satu pertanyaan yang ingin kamu tanyakan.</a:t>
            </a:r>
            <a:endParaRPr lang="en-US" sz="1400" dirty="0"/>
          </a:p>
          <a:p>
            <a:pPr marL="342900" indent="-342900">
              <a:buSzPct val="100000"/>
              <a:buChar char="■"/>
            </a:pPr>
            <a:r>
              <a:rPr lang="en-US" sz="1400" dirty="0">
                <a:solidFill>
                  <a:srgbClr val="EDECFC"/>
                </a:solidFill>
              </a:rPr>
              <a:t>Latihan mandiri: buka kembali simulasi pada pertemuan ini dan coba dengan data buatanmu sendiri.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3886200"/>
            <a:ext cx="2528316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8A5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3886200"/>
            <a:ext cx="25283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Mutmainnah Syam, S.Pd., M.Pd.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23260" y="3886200"/>
            <a:ext cx="3291840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8A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23260" y="38862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Konsultasi di jam istirahat atau melalui kanal kelas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XII.3 · Pemeliharaan dan Penyempurnaan Program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3D1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8338A8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FF8A5B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FF8A5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8A5B"/>
                </a:solidFill>
              </a:rPr>
              <a:t>XII.4 · Genap · 10 JP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005840"/>
            <a:ext cx="7589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Struktur Data Kompleks dan Pemanfaatan Library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56032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6FB"/>
                </a:solidFill>
              </a:rPr>
              <a:t>Halo, selamat datang di kelas Informatika! Semoga hari ini kita belajar dengan gembira dan pulang membawa satu kemampuan baru.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3886200"/>
            <a:ext cx="2217420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8A5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3886200"/>
            <a:ext cx="22174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Algoritma dan Pemrograman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12364" y="3886200"/>
            <a:ext cx="662940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8A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12364" y="3886200"/>
            <a:ext cx="6629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 JP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BAE8"/>
                </a:solidFill>
              </a:rPr>
              <a:t>Mutmainnah Syam, S.Pd., M.Pd.  ·  SMA Negeri 11 Pinrang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PEMBUKA · TUJUAN PEMBELAJARAN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Di akhir pertemuan ini kamu akan mampu…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Mengimplementasikan program dengan struktur data kompleks.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Memanfaatkan library secara tepat.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41605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338A8"/>
                </a:solidFill>
              </a:rPr>
              <a:t>Alokasi 10 JP  ·  Elemen: Algoritma dan Pemrograman  ·  Kriteria ketuntasan 75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XII.4 · Struktur Data Kompleks dan Pemanfaatan Library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PEMBUKA · APERSEPSI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Menyambung perjalanan belajar kita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6928" y="16459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7556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338A8"/>
                </a:solidFill>
              </a:rPr>
              <a:t>Pertemuan lalu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0299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Pemeliharaan dan Penyempurnaan Program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18304" y="16459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01184" y="17556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338A8"/>
                </a:solidFill>
              </a:rPr>
              <a:t>Hari ini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901184" y="20299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Struktur Data Kompleks dan Pemanfaatan Library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0175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31272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338A8"/>
                </a:solidFill>
              </a:rPr>
              <a:t>Pertanyaan pembuka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34015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Apa yang masih kamu ingat dari pertemuan sebelumnya?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18304" y="30175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01184" y="31272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338A8"/>
                </a:solidFill>
              </a:rPr>
              <a:t>Mengapa penting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901184" y="34015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Menerapkan struktur data kompleks pada program nyata dan memakai pustaka secara tepat.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XII.4 · Struktur Data Kompleks dan Pemanfaatan Library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Penerapan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Struktur data di dalam program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Pilih struktur sesuai operasi yang paling sering dilakukan program.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Sering mencari berdasarkan kunci → tabel hash atau kamus bawaan bahasa.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Data berjenjang → pohon; relasi antarobjek → graf.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Ukur dampaknya: catat waktu sebelum dan sesudah penggantian struktur data.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XII.4 · Struktur Data Kompleks dan Pemanfaatan Library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4F5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3D1452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-502920"/>
            <a:ext cx="2011680" cy="2011680"/>
          </a:xfrm>
          <a:prstGeom prst="ellipse">
            <a:avLst/>
          </a:prstGeom>
          <a:solidFill>
            <a:srgbClr val="FF8A5B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828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F8A5B"/>
                </a:solidFill>
              </a:rPr>
              <a:t>SIMULASI INTERAKTIF · MENGAPLIKASI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572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Penelusuran Graf BFS dan DFS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8010144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600200"/>
            <a:ext cx="7406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A4060"/>
                </a:solidFill>
              </a:rPr>
              <a:t>Buka aplikasi media pembelajaran, masuk ke pertemuan XII.4, lalu pilih salindia bertanda simulasi — atau buka menu Simulasi dan pilih "Penelusuran Graf BFS dan DFS".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6A7090"/>
                </a:solidFill>
              </a:rPr>
              <a:t>Dikaitkan dengan materi: Struktur data di dalam program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Langkah murid: amati → ubah nilainya → catat yang berubah → simpulkan bersama kelompok.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3840480"/>
            <a:ext cx="8010144" cy="658368"/>
          </a:xfrm>
          <a:prstGeom prst="roundRect">
            <a:avLst>
              <a:gd name="adj" fmla="val 16667"/>
            </a:avLst>
          </a:prstGeom>
          <a:solidFill>
            <a:srgbClr val="FF8A5B">
              <a:alpha val="28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84048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33"/>
                </a:solidFill>
              </a:rPr>
              <a:t>Pertanyaan pemandu: apa yang berubah ketika nilainya diubah, dan mengapa hal itu terjadi?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XII.4 · Struktur Data Kompleks dan Pemanfaatan Library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Library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Mengapa tidak membuat semuanya sendiri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Pustaka yang matang sudah diuji banyak orang dan jarang mengandung kesalahan mendasar.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Menghemat waktu sehingga fokus pada persoalan yang benar-benar khas.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Tetapi: pahami cara kerjanya, jangan jadi pengguna buta.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XII.4 · Struktur Data Kompleks dan Pemanfaatan Library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Kriteria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Memilih pustaka dengan bijak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Periksa lisensinya; pastikan boleh dipakai untuk keperluan sekolah atau komersial.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Lihat kapan terakhir diperbarui dan seberapa aktif pengembangnya.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Baca dokumentasi resmi dan contoh penggunaannya.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Perhatikan keamanan; pustaka usang bisa membawa celah.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XII.4 · Struktur Data Kompleks dan Pemanfaatan Library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3D1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8338A8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FF8A5B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FF8A5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8A5B"/>
                </a:solidFill>
              </a:rPr>
              <a:t>JEDA SEJENAK · CEK PEMAHAMAN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887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Kapan sebaiknya memakai pustaka buatan orang lain?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0175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6FB"/>
                </a:solidFill>
              </a:rPr>
              <a:t>Jawab bersama teman sebangku selama satu menit, lalu dua orang berbagi jawabannya di depan kelas.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XII.4 · Struktur Data Kompleks dan Pemanfaatan Library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Etika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Atribusi dan tanggung jawab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Cantumkan pustaka yang dipakai beserta lisensinya di berkas dokumentasi.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Kode salinan dari internet wajib dipahami, diuji, dan dicantumkan sumbernya.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Kamu tetap bertanggung jawab atas program yang kamu rilis.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XII.4 · Struktur Data Kompleks dan Pemanfaatan Library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3D1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8338A8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FF8A5B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FF8A5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8A5B"/>
                </a:solidFill>
              </a:rPr>
              <a:t>JEDA SEJENAK · CEK PEMAHAMAN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887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Apa yang perlu diperiksa sebelum memilih pustaka?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0175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6FB"/>
                </a:solidFill>
              </a:rPr>
              <a:t>Jawab bersama teman sebangku selama satu menit, lalu dua orang berbagi jawabannya di depan kelas.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XII.4 · Struktur Data Kompleks dan Pemanfaatan Library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3D1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8338A8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FF8A5B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FF8A5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8A5B"/>
                </a:solidFill>
              </a:rPr>
              <a:t>JEDA SEJENAK · CEK PEMAHAMAN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887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Struktur data apa yang tepat untuk pencarian berdasarkan kunci unik?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0175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6FB"/>
                </a:solidFill>
              </a:rPr>
              <a:t>Jawab bersama teman sebangku selama satu menit, lalu dua orang berbagi jawabannya di depan kelas.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XII.4 · Struktur Data Kompleks dan Pemanfaatan Library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AKTIVITAS · MENGAPLIKASI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Membangun Fitur dengan Pustaka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572768"/>
            <a:ext cx="7863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338A8"/>
                </a:solidFill>
              </a:rPr>
              <a:t>⏱ 45 menit · kelompok 3 orang     📦 Produk: Program dengan struktur data kompleks + daftar pustaka dan lisensinya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58368" y="196596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8338A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61872" y="1947672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Tentukan satu fitur yang akan dibuat, misalnya pencarian data anggota.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8368" y="258775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8338A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61872" y="2569464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Pilih struktur data yang tepat dan jelaskan alasannya.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8368" y="320954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8338A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8368" y="3209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61872" y="3191256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Integrasikan satu pustaka, baca dokumentasinya lebih dahulu.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8368" y="3831336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8338A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" y="3831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61872" y="3813048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Catat lisensi pustaka yang dipakai pada berkas dokumentasi.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XII.4 · Struktur Data Kompleks dan Pemanfaatan Library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EVALUASI FORMATIF · KUIS CEPAT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Seberapa paham kita hari ini?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2763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33"/>
                </a:solidFill>
              </a:rPr>
              <a:t>1. Sebelum memakai pustaka, yang wajib diperiksa adalah …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193852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A. Jumlah barisnya     B. Lisensi dan keaktifan pengembangnya     C. Warna logonya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58775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33"/>
                </a:solidFill>
              </a:rPr>
              <a:t>2. Tanggung jawab atas program yang dirilis berada pada …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89864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A. Pembuat pustaka     B. Pengembang program itu sendiri     C. Pengguna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354787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33"/>
                </a:solidFill>
              </a:rPr>
              <a:t>3. Data berjenjang paling tepat disimpan dengan …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85876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A. Pohon     B. Tumpukan     C. Larik satu dimensi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8368" y="4443984"/>
            <a:ext cx="7827264" cy="91"/>
          </a:xfrm>
          <a:prstGeom prst="roundRect">
            <a:avLst>
              <a:gd name="adj" fmla="val 50241758"/>
            </a:avLst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XII.4 · Struktur Data Kompleks dan Pemanfaatan Library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3D1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8338A8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FF8A5B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FF8A5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8A5B"/>
                </a:solidFill>
              </a:rPr>
              <a:t>PENUTUP · REFLEKSI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0058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Mari kita refleksikan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92024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EDECFC"/>
                </a:solidFill>
              </a:rPr>
              <a:t>Bagian mana yang paling menarik bagimu hari ini?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EDECFC"/>
                </a:solidFill>
              </a:rPr>
              <a:t>Apa yang masih membuatmu bingung?</a:t>
            </a:r>
            <a:endParaRPr lang="en-US" sz="1500" dirty="0"/>
          </a:p>
          <a:p>
            <a:pPr marL="342900" indent="-342900">
              <a:buSzPct val="100000"/>
              <a:buChar char="■"/>
            </a:pPr>
            <a:r>
              <a:rPr lang="en-US" sz="1500" dirty="0">
                <a:solidFill>
                  <a:srgbClr val="EDECFC"/>
                </a:solidFill>
              </a:rPr>
              <a:t>Di mana kamu akan memakai pengetahuan ini di luar kelas?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3566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BAE8"/>
                </a:solidFill>
              </a:rPr>
              <a:t>Tuliskan jawabanmu di buku catatan atau sampaikan secara lisan.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XII.4 · Struktur Data Kompleks dan Pemanfaatan Library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3D1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8338A8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FF8A5B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FF8A5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8A5B"/>
                </a:solidFill>
              </a:rPr>
              <a:t>PENUTUP · TINDAK LANJUT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96012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Terima kasih, kalian hebat hari ini!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87452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400" dirty="0">
                <a:solidFill>
                  <a:srgbClr val="EDECFC"/>
                </a:solidFill>
              </a:rPr>
              <a:t>Pertemuan berikutnya: XII.5 — Perancangan Kebutuhan Sistem Komputer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400" dirty="0">
                <a:solidFill>
                  <a:srgbClr val="EDECFC"/>
                </a:solidFill>
              </a:rPr>
              <a:t>Persiapan: baca sekilas materi berikutnya dan catat satu pertanyaan yang ingin kamu tanyakan.</a:t>
            </a:r>
            <a:endParaRPr lang="en-US" sz="1400" dirty="0"/>
          </a:p>
          <a:p>
            <a:pPr marL="342900" indent="-342900">
              <a:buSzPct val="100000"/>
              <a:buChar char="■"/>
            </a:pPr>
            <a:r>
              <a:rPr lang="en-US" sz="1400" dirty="0">
                <a:solidFill>
                  <a:srgbClr val="EDECFC"/>
                </a:solidFill>
              </a:rPr>
              <a:t>Latihan mandiri: buka kembali simulasi pada pertemuan ini dan coba dengan data buatanmu sendiri.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3886200"/>
            <a:ext cx="2528316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8A5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3886200"/>
            <a:ext cx="25283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Mutmainnah Syam, S.Pd., M.Pd.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23260" y="3886200"/>
            <a:ext cx="3291840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8A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23260" y="38862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Konsultasi di jam istirahat atau melalui kanal kelas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XII.4 · Struktur Data Kompleks dan Pemanfaatan Library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3D1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8338A8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FF8A5B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FF8A5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8A5B"/>
                </a:solidFill>
              </a:rPr>
              <a:t>XII.5 · Genap · 6 JP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005840"/>
            <a:ext cx="7589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Perancangan Kebutuhan Sistem Komputer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56032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6FB"/>
                </a:solidFill>
              </a:rPr>
              <a:t>Halo, selamat datang di kelas Informatika! Semoga hari ini kita belajar dengan gembira dan pulang membawa satu kemampuan baru.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3886200"/>
            <a:ext cx="1517904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8A5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3886200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Literasi Digital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12848" y="3886200"/>
            <a:ext cx="585216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8A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12848" y="3886200"/>
            <a:ext cx="585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 JP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BAE8"/>
                </a:solidFill>
              </a:rPr>
              <a:t>Mutmainnah Syam, S.Pd., M.Pd.  ·  SMA Negeri 11 Pinrang</a:t>
            </a:r>
            <a:endParaRPr lang="en-US" sz="9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PEMBUKA · TUJUAN PEMBELAJARAN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Di akhir pertemuan ini kamu akan mampu…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Merancang kebutuhan sistem komputer sesuai kebutuhan pengguna.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Mengkreasi konten digital dengan peralatan dan metode bervariasi.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41605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338A8"/>
                </a:solidFill>
              </a:rPr>
              <a:t>Alokasi 6 JP  ·  Elemen: Literasi Digital  ·  Kriteria ketuntasan 75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XII.5 · Perancangan Kebutuhan Sistem Komputer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PEMBUKA · APERSEPSI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Menyambung perjalanan belajar kita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6928" y="16459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7556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338A8"/>
                </a:solidFill>
              </a:rPr>
              <a:t>Pertemuan lalu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0299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Struktur Data Kompleks dan Pemanfaatan Library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18304" y="16459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01184" y="17556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338A8"/>
                </a:solidFill>
              </a:rPr>
              <a:t>Hari ini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901184" y="20299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Perancangan Kebutuhan Sistem Komputer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0175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31272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338A8"/>
                </a:solidFill>
              </a:rPr>
              <a:t>Pertanyaan pembuka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34015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Apa yang masih kamu ingat dari pertemuan sebelumnya?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18304" y="30175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01184" y="31272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338A8"/>
                </a:solidFill>
              </a:rPr>
              <a:t>Mengapa penting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901184" y="34015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Menentukan spesifikasi perangkat keras dan lunak sesuai kebutuhan pengguna dan anggaran.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XII.5 · Perancangan Kebutuhan Sistem Komputer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Pemantik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Termahal belum tentu tepat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Komputer untuk tata usaha dan untuk studio desain punya kebutuhan sangat berbeda.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Tugas kita: menyesuaikan spesifikasi dengan pekerjaan nyata dan anggaran.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XII.5 · Perancangan Kebutuhan Sistem Komputer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Analisis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Memahami beban kerja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Pekerjaan ringan: dokumen, lembar kerja, peramban.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Menengah: pengolahan data besar, pemrograman, penyuntingan gambar.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Berat: penyuntingan video, pemodelan 3D, pelatihan model kecerdasan artifisial.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Tanyakan aplikasi yang dipakai, ukuran berkas, dan berapa lama perangkat dipakai per hari.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XII.5 · Perancangan Kebutuhan Sistem Komputer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3D1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8338A8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FF8A5B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FF8A5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8A5B"/>
                </a:solidFill>
              </a:rPr>
              <a:t>JEDA SEJENAK · CEK PEMAHAMAN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887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Mengapa spesifikasi termahal belum tentu paling tepat?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0175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6FB"/>
                </a:solidFill>
              </a:rPr>
              <a:t>Jawab bersama teman sebangku selama satu menit, lalu dua orang berbagi jawabannya di depan kelas.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XII.5 · Perancangan Kebutuhan Sistem Komputer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Spesifikasi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Komponen yang menentukan kinerja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Prosesor: jumlah inti dan kecepatan; menentukan kemampuan menghitung.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RAM: menentukan berapa banyak pekerjaan dapat berjalan bersamaan.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Penyimpanan: SSD jauh lebih responsif daripada HDD.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Kartu grafis: penting untuk grafis, video, dan komputasi paralel.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Perangkat lunak: sistem operasi dan aplikasi, termasuk legalitas lisensinya.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XII.5 · Perancangan Kebutuhan Sistem Komputer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4F5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3D1452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-502920"/>
            <a:ext cx="2011680" cy="2011680"/>
          </a:xfrm>
          <a:prstGeom prst="ellipse">
            <a:avLst/>
          </a:prstGeom>
          <a:solidFill>
            <a:srgbClr val="FF8A5B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828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F8A5B"/>
                </a:solidFill>
              </a:rPr>
              <a:t>SIMULASI INTERAKTIF · MENGAPLIKASI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572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Perancang Spesifikasi Komputer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8010144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600200"/>
            <a:ext cx="7406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A4060"/>
                </a:solidFill>
              </a:rPr>
              <a:t>Buka aplikasi media pembelajaran, masuk ke pertemuan XII.5, lalu pilih salindia bertanda simulasi — atau buka menu Simulasi dan pilih "Perancang Spesifikasi Komputer".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6A7090"/>
                </a:solidFill>
              </a:rPr>
              <a:t>Dikaitkan dengan materi: Komponen yang menentukan kinerja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Langkah murid: amati → ubah nilainya → catat yang berubah → simpulkan bersama kelompok.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3840480"/>
            <a:ext cx="8010144" cy="658368"/>
          </a:xfrm>
          <a:prstGeom prst="roundRect">
            <a:avLst>
              <a:gd name="adj" fmla="val 16667"/>
            </a:avLst>
          </a:prstGeom>
          <a:solidFill>
            <a:srgbClr val="FF8A5B">
              <a:alpha val="28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84048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33"/>
                </a:solidFill>
              </a:rPr>
              <a:t>Pertanyaan pemandu: apa yang berubah ketika nilainya diubah, dan mengapa hal itu terjadi?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XII.5 · Perancangan Kebutuhan Sistem Komputer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Anggaran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Menyusun usulan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Buat dua alternatif: kebutuhan minimum dan kebutuhan ideal.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Hitung total biaya termasuk perangkat pendukung, lisensi, dan garansi.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Pertimbangkan daya tahan 3–5 tahun ke depan, bukan hanya hari ini.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Sajikan dalam dokumen rancangan yang ringkas dan mudah dipahami pimpinan.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XII.5 · Perancangan Kebutuhan Sistem Komputer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3D1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8338A8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FF8A5B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FF8A5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8A5B"/>
                </a:solidFill>
              </a:rPr>
              <a:t>JEDA SEJENAK · CEK PEMAHAMAN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887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Komponen apa yang paling berpengaruh saat banyak aplikasi dibuka bersamaan?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0175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6FB"/>
                </a:solidFill>
              </a:rPr>
              <a:t>Jawab bersama teman sebangku selama satu menit, lalu dua orang berbagi jawabannya di depan kelas.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XII.5 · Perancangan Kebutuhan Sistem Komputer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3D1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8338A8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FF8A5B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FF8A5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8A5B"/>
                </a:solidFill>
              </a:rPr>
              <a:t>JEDA SEJENAK · CEK PEMAHAMAN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887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Mengapa perlu menyiapkan dua alternatif spesifikasi?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0175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6FB"/>
                </a:solidFill>
              </a:rPr>
              <a:t>Jawab bersama teman sebangku selama satu menit, lalu dua orang berbagi jawabannya di depan kelas.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XII.5 · Perancangan Kebutuhan Sistem Komputer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AKTIVITAS · MENGAPLIKASI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Usulan Pengadaan Komputer Sekolah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572768"/>
            <a:ext cx="7863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338A8"/>
                </a:solidFill>
              </a:rPr>
              <a:t>⏱ 40 menit · kelompok 4 orang     📦 Produk: Dokumen usulan pengadaan + presentasi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58368" y="196596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8338A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61872" y="1947672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Wawancarai satu calon pengguna di sekolah tentang pekerjaan hariannya.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8368" y="258775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8338A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61872" y="2569464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Gunakan simulasi Perancang Spesifikasi untuk menyusun dua alternatif.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8368" y="320954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8338A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8368" y="3209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61872" y="3191256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Hitung perkiraan anggaran termasuk lisensi dan garansi.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8368" y="3831336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8338A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" y="3831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61872" y="3813048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Susun dokumen usulan satu halaman dan presentasikan kepada pengguna.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XII.5 · Perancangan Kebutuhan Sistem Komputer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EVALUASI FORMATIF · KUIS CEPAT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Seberapa paham kita hari ini?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2763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33"/>
                </a:solidFill>
              </a:rPr>
              <a:t>1. Komponen yang paling menentukan banyaknya aplikasi berjalan bersamaan adalah …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193852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A. RAM     B. Kartu suara     C. Ukuran monitor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58775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33"/>
                </a:solidFill>
              </a:rPr>
              <a:t>2. Untuk server sekolah, yang paling diutamakan adalah …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89864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A. Kartu grafis mahal     B. Keandalan dan cadangan daya     C. Desain casing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354787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33"/>
                </a:solidFill>
              </a:rPr>
              <a:t>3. Usulan pengadaan yang baik memuat …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85876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A. Satu pilihan saja     B. Dua alternatif beserta perbandingannya     C. Hanya harga total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8368" y="4443984"/>
            <a:ext cx="7827264" cy="91"/>
          </a:xfrm>
          <a:prstGeom prst="roundRect">
            <a:avLst>
              <a:gd name="adj" fmla="val 50241758"/>
            </a:avLst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XII.5 · Perancangan Kebutuhan Sistem Komputer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3D1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8338A8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FF8A5B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FF8A5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8A5B"/>
                </a:solidFill>
              </a:rPr>
              <a:t>PENUTUP · REFLEKSI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0058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Mari kita refleksikan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92024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EDECFC"/>
                </a:solidFill>
              </a:rPr>
              <a:t>Bagian mana yang paling menarik bagimu hari ini?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EDECFC"/>
                </a:solidFill>
              </a:rPr>
              <a:t>Apa yang masih membuatmu bingung?</a:t>
            </a:r>
            <a:endParaRPr lang="en-US" sz="1500" dirty="0"/>
          </a:p>
          <a:p>
            <a:pPr marL="342900" indent="-342900">
              <a:buSzPct val="100000"/>
              <a:buChar char="■"/>
            </a:pPr>
            <a:r>
              <a:rPr lang="en-US" sz="1500" dirty="0">
                <a:solidFill>
                  <a:srgbClr val="EDECFC"/>
                </a:solidFill>
              </a:rPr>
              <a:t>Di mana kamu akan memakai pengetahuan ini di luar kelas?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3566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BAE8"/>
                </a:solidFill>
              </a:rPr>
              <a:t>Tuliskan jawabanmu di buku catatan atau sampaikan secara lisan.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XII.5 · Perancangan Kebutuhan Sistem Komputer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3D1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8338A8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FF8A5B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FF8A5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8A5B"/>
                </a:solidFill>
              </a:rPr>
              <a:t>PENUTUP · TINDAK LANJUT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96012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Terima kasih, kalian hebat hari ini!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87452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400" dirty="0">
                <a:solidFill>
                  <a:srgbClr val="EDECFC"/>
                </a:solidFill>
              </a:rPr>
              <a:t>Pertemuan berikutnya: XII.6 — Hukum Digital, Demokrasi Digital, Transaksi Digital, dan Projek Akhir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400" dirty="0">
                <a:solidFill>
                  <a:srgbClr val="EDECFC"/>
                </a:solidFill>
              </a:rPr>
              <a:t>Persiapan: baca sekilas materi berikutnya dan catat satu pertanyaan yang ingin kamu tanyakan.</a:t>
            </a:r>
            <a:endParaRPr lang="en-US" sz="1400" dirty="0"/>
          </a:p>
          <a:p>
            <a:pPr marL="342900" indent="-342900">
              <a:buSzPct val="100000"/>
              <a:buChar char="■"/>
            </a:pPr>
            <a:r>
              <a:rPr lang="en-US" sz="1400" dirty="0">
                <a:solidFill>
                  <a:srgbClr val="EDECFC"/>
                </a:solidFill>
              </a:rPr>
              <a:t>Latihan mandiri: buka kembali simulasi pada pertemuan ini dan coba dengan data buatanmu sendiri.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3886200"/>
            <a:ext cx="2528316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8A5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3886200"/>
            <a:ext cx="25283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Mutmainnah Syam, S.Pd., M.Pd.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23260" y="3886200"/>
            <a:ext cx="3291840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8A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23260" y="38862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Konsultasi di jam istirahat atau melalui kanal kelas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XII.5 · Perancangan Kebutuhan Sistem Komputer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3D1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8338A8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FF8A5B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FF8A5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8A5B"/>
                </a:solidFill>
              </a:rPr>
              <a:t>XII.6 · Genap · 20 JP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005840"/>
            <a:ext cx="7589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Hukum Digital, Demokrasi Digital, Transaksi Digital, dan Projek Akhir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56032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6FB"/>
                </a:solidFill>
              </a:rPr>
              <a:t>Halo, selamat datang di kelas Informatika! Semoga hari ini kita belajar dengan gembira dan pulang membawa satu kemampuan baru.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3886200"/>
            <a:ext cx="3291840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8A5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38862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Literasi Digital serta Algoritma dan Pemrogr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986784" y="3886200"/>
            <a:ext cx="662940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8A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986784" y="3886200"/>
            <a:ext cx="6629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20 JP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BAE8"/>
                </a:solidFill>
              </a:rPr>
              <a:t>Mutmainnah Syam, S.Pd., M.Pd.  ·  SMA Negeri 11 Pinrang</a:t>
            </a:r>
            <a:endParaRPr lang="en-US" sz="9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PEMBUKA · TUJUAN PEMBELAJARAN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Di akhir pertemuan ini kamu akan mampu…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Memahami hukum dan perundang-undangan isu digital.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Memahami pemanfaatan teknologi digital dalam demokrasi.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Menerapkan keamanan akun lanjut.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Memahami loka pasar, perbankan, dan dompet digital beserta keamanannya.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Merancang dan mengimplementasikan karya digital solusi persoalan nyata.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41605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338A8"/>
                </a:solidFill>
              </a:rPr>
              <a:t>Alokasi 20 JP  ·  Elemen: Literasi Digital serta Algoritma dan Pemrograman  ·  Kriteria ketuntasan 75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XII.6 · Hukum Digital, Demokrasi Digital, Transaksi Digital, dan Projek Akhir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PEMBUKA · APERSEPSI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Menyambung perjalanan belajar kita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6928" y="16459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7556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338A8"/>
                </a:solidFill>
              </a:rPr>
              <a:t>Pertemuan lalu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0299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Perancangan Kebutuhan Sistem Komputer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18304" y="16459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01184" y="17556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338A8"/>
                </a:solidFill>
              </a:rPr>
              <a:t>Hari ini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901184" y="20299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Hukum Digital, Demokrasi Digital, Transaksi Digital, dan Projek Akhir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0175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31272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338A8"/>
                </a:solidFill>
              </a:rPr>
              <a:t>Pertanyaan pembuka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34015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Apa yang masih kamu ingat dari pertemuan sebelumnya?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18304" y="30175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01184" y="31272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338A8"/>
                </a:solidFill>
              </a:rPr>
              <a:t>Mengapa penting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901184" y="34015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Hak dan kewajiban warga digital, partisipasi publik, transaksi aman, dan karya akhir.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XII.6 · Hukum Digital, Demokrasi Digital, Transaksi Digital, dan Projek Akhir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Hukum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Aturan dunia digital di Indonesia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Undang-undang tentang informasi dan transaksi elektronik mengatur konten, penghinaan, penipuan, dan akses ilegal.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Undang-undang pelindungan data pribadi mengatur pengumpulan dan penggunaan data orang lain.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Undang-undang hak cipta melindungi karya tulis, musik, gambar, dan perangkat lunak.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Yang kita unggah dan sebarkan dapat dimintai pertanggungjawaban secara hukum.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XII.6 · Hukum Digital, Demokrasi Digital, Transaksi Digital, dan Projek Akhir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Etika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Batas perilaku digital yang aman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Jangan menyebar data pribadi orang lain tanpa izin (doxing).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Jangan mengunggah tuduhan tanpa bukti; gunakan jalur pengaduan resmi.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Jangan masuk ke akun atau sistem milik orang lain, meski 'hanya iseng'.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Hormati karya orang lain: minta izin dan cantumkan sumber.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XII.6 · Hukum Digital, Demokrasi Digital, Transaksi Digital, dan Projek Akhir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3D1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8338A8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FF8A5B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FF8A5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8A5B"/>
                </a:solidFill>
              </a:rPr>
              <a:t>JEDA SEJENAK · CEK PEMAHAMAN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887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Perbuatan digital apa yang bisa berujung masalah hukum?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0175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6FB"/>
                </a:solidFill>
              </a:rPr>
              <a:t>Jawab bersama teman sebangku selama satu menit, lalu dua orang berbagi jawabannya di depan kelas.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XII.6 · Hukum Digital, Demokrasi Digital, Transaksi Digital, dan Projek Akhir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Demokrasi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Teknologi dan partisipasi publik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Kanal aspirasi daring, keterbukaan data anggaran, dan layanan publik digital.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Manfaat: partisipasi lebih luas, pengawasan lebih mudah, informasi lebih cepat.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Risiko: hoaks politik, gelembung informasi, manipulasi opini oleh akun otomatis.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Sikap kita: verifikasi sebelum percaya, berdebat dengan argumen, bukan hinaan.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XII.6 · Hukum Digital, Demokrasi Digital, Transaksi Digital, dan Projek Akhir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Transaksi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Berbelanja dan bertransaksi dengan aman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Pastikan situs resmi dan menggunakan HTTPS; waspadai alamat yang mirip.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Jangan pernah membagikan OTP kepada siapa pun, termasuk yang mengaku petugas.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Gunakan rekening bersama pada loka pasar dan simpan bukti transaksi.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Periksa mutasi secara berkala dan aktifkan notifikasi transaksi.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Ciri penipuan: mendesak, hadiah mendadak, harga jauh di bawah pasar, dan tautan asing.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XII.6 · Hukum Digital, Demokrasi Digital, Transaksi Digital, dan Projek Akhir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4F5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3D1452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-502920"/>
            <a:ext cx="2011680" cy="2011680"/>
          </a:xfrm>
          <a:prstGeom prst="ellipse">
            <a:avLst/>
          </a:prstGeom>
          <a:solidFill>
            <a:srgbClr val="FF8A5B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828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F8A5B"/>
                </a:solidFill>
              </a:rPr>
              <a:t>SIMULASI INTERAKTIF · MENGAPLIKASI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572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Keamanan Kata Sandi dan 2FA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8010144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600200"/>
            <a:ext cx="7406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A4060"/>
                </a:solidFill>
              </a:rPr>
              <a:t>Buka aplikasi media pembelajaran, masuk ke pertemuan XII.6, lalu pilih salindia bertanda simulasi — atau buka menu Simulasi dan pilih "Keamanan Kata Sandi dan 2FA".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6A7090"/>
                </a:solidFill>
              </a:rPr>
              <a:t>Dikaitkan dengan materi: Berbelanja dan bertransaksi dengan aman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Langkah murid: amati → ubah nilainya → catat yang berubah → simpulkan bersama kelompok.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3840480"/>
            <a:ext cx="8010144" cy="658368"/>
          </a:xfrm>
          <a:prstGeom prst="roundRect">
            <a:avLst>
              <a:gd name="adj" fmla="val 16667"/>
            </a:avLst>
          </a:prstGeom>
          <a:solidFill>
            <a:srgbClr val="FF8A5B">
              <a:alpha val="28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84048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33"/>
                </a:solidFill>
              </a:rPr>
              <a:t>Pertanyaan pemandu: apa yang berubah ketika nilainya diubah, dan mengapa hal itu terjadi?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XII.6 · Hukum Digital, Demokrasi Digital, Transaksi Digital, dan Projek Akhir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Projek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Projek akhir: karya digital untuk masyarakat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Pilih persoalan nyata di sekolah atau Kabupaten Pinrang.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Tahap: analisis kebutuhan → rancangan → pembuatan → pengujian bersama pengguna → gelar karya.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Produk dapat berupa aplikasi, situs, sistem pendataan, atau konten edukasi digital.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Penilaian: perencanaan 20%, pelaksanaan 30%, produk 30%, komunikasi hasil 20%.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XII.6 · Hukum Digital, Demokrasi Digital, Transaksi Digital, dan Projek Akhir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4F5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3D1452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-502920"/>
            <a:ext cx="2011680" cy="2011680"/>
          </a:xfrm>
          <a:prstGeom prst="ellipse">
            <a:avLst/>
          </a:prstGeom>
          <a:solidFill>
            <a:srgbClr val="FF8A5B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828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F8A5B"/>
                </a:solidFill>
              </a:rPr>
              <a:t>SIMULASI INTERAKTIF · MENGAPLIKASI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572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Perencana Projek Akhir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8010144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600200"/>
            <a:ext cx="7406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A4060"/>
                </a:solidFill>
              </a:rPr>
              <a:t>Buka aplikasi media pembelajaran, masuk ke pertemuan XII.6, lalu pilih salindia bertanda simulasi — atau buka menu Simulasi dan pilih "Perencana Projek Akhir".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6A7090"/>
                </a:solidFill>
              </a:rPr>
              <a:t>Dikaitkan dengan materi: Projek akhir: karya digital untuk masyarakat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Langkah murid: amati → ubah nilainya → catat yang berubah → simpulkan bersama kelompok.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3840480"/>
            <a:ext cx="8010144" cy="658368"/>
          </a:xfrm>
          <a:prstGeom prst="roundRect">
            <a:avLst>
              <a:gd name="adj" fmla="val 16667"/>
            </a:avLst>
          </a:prstGeom>
          <a:solidFill>
            <a:srgbClr val="FF8A5B">
              <a:alpha val="28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84048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33"/>
                </a:solidFill>
              </a:rPr>
              <a:t>Pertanyaan pemandu: apa yang berubah ketika nilainya diubah, dan mengapa hal itu terjadi?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XII.6 · Hukum Digital, Demokrasi Digital, Transaksi Digital, dan Projek Akhir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Penutup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Setelah lulus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Teruslah belajar; teknologi berubah, cara berpikir komputasional tetap berguna.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Bangun portofolio karya digital sejak sekarang.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Jadilah warga digital yang aman, beretika, dan bermanfaat bagi sekitar.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XII.6 · Hukum Digital, Demokrasi Digital, Transaksi Digital, dan Projek Akhir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3D1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8338A8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FF8A5B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FF8A5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8A5B"/>
                </a:solidFill>
              </a:rPr>
              <a:t>JEDA SEJENAK · CEK PEMAHAMAN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887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Mengapa OTP tidak boleh dibagikan kepada siapa pun?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0175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6FB"/>
                </a:solidFill>
              </a:rPr>
              <a:t>Jawab bersama teman sebangku selama satu menit, lalu dua orang berbagi jawabannya di depan kelas.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XII.6 · Hukum Digital, Demokrasi Digital, Transaksi Digital, dan Projek Akhir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3D1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8338A8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FF8A5B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FF8A5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8A5B"/>
                </a:solidFill>
              </a:rPr>
              <a:t>JEDA SEJENAK · CEK PEMAHAMAN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887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Apa ciri penawaran daring yang patut dicurigai?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0175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6FB"/>
                </a:solidFill>
              </a:rPr>
              <a:t>Jawab bersama teman sebangku selama satu menit, lalu dua orang berbagi jawabannya di depan kelas.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XII.6 · Hukum Digital, Demokrasi Digital, Transaksi Digital, dan Projek Akhir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AKTIVITAS · MENGAPLIKASI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Projek Akhir: Karya Digital untuk Masyarakat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572768"/>
            <a:ext cx="7863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338A8"/>
                </a:solidFill>
              </a:rPr>
              <a:t>⏱ 4 pertemuan · kelompok 4 orang     📦 Produk: Karya digital + laporan + presentasi gelar karya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58368" y="196596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8338A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61872" y="1947672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Tentukan persoalan nyata di sekolah atau Kabupaten Pinrang.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8368" y="258775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8338A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61872" y="2569464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Susun rencana pada simulasi Perencana Projek Akhir.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8368" y="320954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8338A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8368" y="3209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61872" y="3191256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Bangun purwarupa, uji bersama calon pengguna, lalu perbaiki.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8368" y="3831336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8338A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" y="3831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61872" y="3813048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Gelar karya: presentasikan proses, produk, dan manfaatnya.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XII.6 · Hukum Digital, Demokrasi Digital, Transaksi Digital, dan Projek Akhir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EVALUASI FORMATIF · KUIS CEPAT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Seberapa paham kita hari ini?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2763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33"/>
                </a:solidFill>
              </a:rPr>
              <a:t>1. Menyebarkan data pribadi orang lain tanpa izin melanggar …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193852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A. Undang-undang pelindungan data pribadi     B. Aturan sekolah saja     C. Tidak melanggar apa pun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58775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33"/>
                </a:solidFill>
              </a:rPr>
              <a:t>2. Saat bertransaksi daring, kode OTP sebaiknya …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89864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A. Dibagikan kepada penjual     B. Tidak dibagikan kepada siapa pun     C. Ditulis di catatan daring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354787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33"/>
                </a:solidFill>
              </a:rPr>
              <a:t>3. Partisipasi digital yang sehat dilakukan dengan …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85876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A. Argumen dan bukti     B. Menyerang pribadi     C. Menyebar tangkapan layar tanpa sumber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8368" y="4443984"/>
            <a:ext cx="7827264" cy="91"/>
          </a:xfrm>
          <a:prstGeom prst="roundRect">
            <a:avLst>
              <a:gd name="adj" fmla="val 50241758"/>
            </a:avLst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XII.6 · Hukum Digital, Demokrasi Digital, Transaksi Digital, dan Projek Akhir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3D1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8338A8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FF8A5B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FF8A5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8A5B"/>
                </a:solidFill>
              </a:rPr>
              <a:t>PENUTUP · REFLEKSI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0058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Mari kita refleksikan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92024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EDECFC"/>
                </a:solidFill>
              </a:rPr>
              <a:t>Bagian mana yang paling menarik bagimu hari ini?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EDECFC"/>
                </a:solidFill>
              </a:rPr>
              <a:t>Apa yang masih membuatmu bingung?</a:t>
            </a:r>
            <a:endParaRPr lang="en-US" sz="1500" dirty="0"/>
          </a:p>
          <a:p>
            <a:pPr marL="342900" indent="-342900">
              <a:buSzPct val="100000"/>
              <a:buChar char="■"/>
            </a:pPr>
            <a:r>
              <a:rPr lang="en-US" sz="1500" dirty="0">
                <a:solidFill>
                  <a:srgbClr val="EDECFC"/>
                </a:solidFill>
              </a:rPr>
              <a:t>Di mana kamu akan memakai pengetahuan ini di luar kelas?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3566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BAE8"/>
                </a:solidFill>
              </a:rPr>
              <a:t>Tuliskan jawabanmu di buku catatan atau sampaikan secara lisan.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XII.6 · Hukum Digital, Demokrasi Digital, Transaksi Digital, dan Projek Akhir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3D1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8338A8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FF8A5B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FF8A5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8A5B"/>
                </a:solidFill>
              </a:rPr>
              <a:t>PENUTUP · TINDAK LANJUT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96012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Terima kasih, kalian hebat hari ini!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87452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400" dirty="0">
                <a:solidFill>
                  <a:srgbClr val="EDECFC"/>
                </a:solidFill>
              </a:rPr>
              <a:t>Pertemuan berikutnya: asesmen lingkup materi dan gelar karya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400" dirty="0">
                <a:solidFill>
                  <a:srgbClr val="EDECFC"/>
                </a:solidFill>
              </a:rPr>
              <a:t>Persiapan: rapikan catatan dan produk belajarmu untuk dikumpulkan.</a:t>
            </a:r>
            <a:endParaRPr lang="en-US" sz="1400" dirty="0"/>
          </a:p>
          <a:p>
            <a:pPr marL="342900" indent="-342900">
              <a:buSzPct val="100000"/>
              <a:buChar char="■"/>
            </a:pPr>
            <a:r>
              <a:rPr lang="en-US" sz="1400" dirty="0">
                <a:solidFill>
                  <a:srgbClr val="EDECFC"/>
                </a:solidFill>
              </a:rPr>
              <a:t>Latihan mandiri: buka kembali simulasi pada pertemuan ini dan coba dengan data buatanmu sendiri.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3886200"/>
            <a:ext cx="2528316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8A5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3886200"/>
            <a:ext cx="25283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Mutmainnah Syam, S.Pd., M.Pd.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23260" y="3886200"/>
            <a:ext cx="3291840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8A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23260" y="38862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Konsultasi di jam istirahat atau melalui kanal kelas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XII.6 · Hukum Digital, Demokrasi Digital, Transaksi Digital, dan Projek Akhir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103</Slides>
  <Notes>103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103</vt:i4>
      </vt:variant>
    </vt:vector>
  </HeadingPairs>
  <TitlesOfParts>
    <vt:vector size="10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</vt:vector>
  </TitlesOfParts>
  <Company>SMA Negeri 11 Pinrang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Informatika Kelas XII — SMA Negeri 11 Pinrang</dc:title>
  <dc:subject>PptxGenJS Presentation</dc:subject>
  <dc:creator>Mutmainnah Syam, S.Pd., M.Pd.</dc:creator>
  <cp:lastModifiedBy>Mutmainnah Syam, S.Pd., M.Pd.</cp:lastModifiedBy>
  <cp:revision>1</cp:revision>
  <dcterms:created xsi:type="dcterms:W3CDTF">2026-10-03T15:47:33Z</dcterms:created>
  <dcterms:modified xsi:type="dcterms:W3CDTF">2026-10-03T15:47:33Z</dcterms:modified>
</cp:coreProperties>
</file>